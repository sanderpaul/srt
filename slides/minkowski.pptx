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4" r:id="rId1"/>
    <p:sldMasterId id="2147483798" r:id="rId2"/>
  </p:sldMasterIdLst>
  <p:notesMasterIdLst>
    <p:notesMasterId r:id="rId10"/>
  </p:notesMasterIdLst>
  <p:sldIdLst>
    <p:sldId id="256" r:id="rId3"/>
    <p:sldId id="257" r:id="rId4"/>
    <p:sldId id="258" r:id="rId5"/>
    <p:sldId id="260" r:id="rId6"/>
    <p:sldId id="261" r:id="rId7"/>
    <p:sldId id="262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2426"/>
    <a:srgbClr val="FF8418"/>
    <a:srgbClr val="41AB41"/>
    <a:srgbClr val="96655A"/>
    <a:srgbClr val="AB85CB"/>
    <a:srgbClr val="177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3333" autoAdjust="0"/>
  </p:normalViewPr>
  <p:slideViewPr>
    <p:cSldViewPr snapToGrid="0">
      <p:cViewPr varScale="1">
        <p:scale>
          <a:sx n="168" d="100"/>
          <a:sy n="168" d="100"/>
        </p:scale>
        <p:origin x="335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46714-66A9-4331-9687-D7DE69600F8C}" type="datetimeFigureOut">
              <a:rPr lang="de-DE" smtClean="0"/>
              <a:t>21.03.2025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BE582-3C9C-4E6A-A63A-4ED2653A53B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7646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supervisor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BE582-3C9C-4E6A-A63A-4ED2653A53B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5920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81DDBC-4466-4E4D-8348-9E61A07BBB23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Paul Sander, pasander@student.ethz.ch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9126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7E33-DCA0-4C7F-A116-3D7ECA99B758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Paul Sander, pasander@student.ethz.ch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3461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55F0DF-0DE4-46A6-89EE-D85721A78BFF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Paul Sander, pasander@student.ethz.ch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345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B742-5549-4C1E-A4A7-964958457E23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Paul Sander, pasander@student.ethz.ch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305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2A30-8CC1-4184-BF4D-47E2B21E4EAF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Paul Sander, pasander@student.ethz.ch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1112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4B94-830A-44DB-B256-EB4AB7B8943B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Paul Sander, pasander@student.ethz.ch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4315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684CD-BF8B-4444-AC4B-E9077F770D42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Paul Sander, pasander@student.ethz.ch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888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ED8E9-D70F-45C4-8048-A836134AE31C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Paul Sander, pasander@student.ethz.ch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823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EC878-C261-4EEC-84F8-2911246240CC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Paul Sander, pasander@student.ethz.ch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948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A011472-C2FB-4557-976A-45B9E45E41B8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Paul Sander, pasander@student.ethz.ch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3020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A5E8-2D2A-4061-8930-BA891F6E5824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Paul Sander, pasander@student.ethz.ch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874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9B12-0087-499C-8708-C48C1D5EFD8A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Paul Sander, pasander@student.ethz.ch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11541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664A41-A95B-4B58-B281-ED13D91A7603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de-DE"/>
              <a:t>Paul Sander, pasander@student.ethz.ch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8008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8404166" y="0"/>
            <a:ext cx="3787833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12F3EEEF-9270-448B-8799-2AA9B50D0F5B}" type="datetime2">
              <a:rPr lang="en-CA" smtClean="0"/>
              <a:t>Friday, March 21, 2025</a:t>
            </a:fld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4802001-C76A-40BD-B2EB-DA779CB00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155469"/>
            <a:ext cx="7166270" cy="4703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704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1985" y="5956137"/>
            <a:ext cx="18387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r>
              <a:rPr lang="de-DE" dirty="0"/>
              <a:t>Donnerstag, 20. März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2660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>
                <a:solidFill>
                  <a:schemeClr val="accent2"/>
                </a:solidFill>
              </a:defRPr>
            </a:lvl1pPr>
          </a:lstStyle>
          <a:p>
            <a:r>
              <a:rPr lang="de-DE"/>
              <a:t>Paul Sander, pasander@student.ethz.ch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8DD394E-F29C-48AC-A6F9-BA3693CFB28B}"/>
              </a:ext>
            </a:extLst>
          </p:cNvPr>
          <p:cNvSpPr txBox="1">
            <a:spLocks/>
          </p:cNvSpPr>
          <p:nvPr userDrawn="1"/>
        </p:nvSpPr>
        <p:spPr>
          <a:xfrm>
            <a:off x="3349514" y="5951810"/>
            <a:ext cx="5154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cap="none" dirty="0"/>
              <a:t>Minkowski Diagramme</a:t>
            </a:r>
          </a:p>
        </p:txBody>
      </p:sp>
    </p:spTree>
    <p:extLst>
      <p:ext uri="{BB962C8B-B14F-4D97-AF65-F5344CB8AC3E}">
        <p14:creationId xmlns:p14="http://schemas.microsoft.com/office/powerpoint/2010/main" val="256288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811" r:id="rId5"/>
    <p:sldLayoutId id="2147483812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1985" y="5956137"/>
            <a:ext cx="18387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784850-771A-44E0-8EA9-A966A4C42E11}" type="datetime2">
              <a:rPr lang="en-CA" smtClean="0"/>
              <a:t>Friday, March 21, 2025</a:t>
            </a:fld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3998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file:///C:\Users\sande\Documents\SRT_plotting\img\empty.png" TargetMode="Externa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file:///C:\Users\sande\Documents\SRT_plotting\img\one_point_no_lines.png" TargetMode="Externa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file:///C:\Users\sande\Documents\SRT_plotting\img\one_point_partial_lines.png" TargetMode="Externa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file:///C:\Users\sande\Documents\SRT_plotting\img\one_point_full_lines.png" TargetMode="Externa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file:///C:\Users\sande\Documents\SRT_plotting\img\light.png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DA589-D18C-4E9B-BBD2-F4154296F2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effectLst/>
                <a:latin typeface="Arial" panose="020B0604020202020204" pitchFamily="34" charset="0"/>
              </a:rPr>
              <a:t>Minkowski </a:t>
            </a:r>
            <a:r>
              <a:rPr lang="en-US" sz="2400" b="0" i="0" dirty="0" err="1">
                <a:effectLst/>
                <a:latin typeface="Arial" panose="020B0604020202020204" pitchFamily="34" charset="0"/>
              </a:rPr>
              <a:t>Diagramme</a:t>
            </a:r>
            <a:br>
              <a:rPr lang="en-US" sz="2400" b="0" i="0" dirty="0">
                <a:effectLst/>
                <a:latin typeface="Arial" panose="020B0604020202020204" pitchFamily="34" charset="0"/>
              </a:rPr>
            </a:br>
            <a:r>
              <a:rPr lang="en-US" sz="1400" b="0" i="0" dirty="0" err="1">
                <a:effectLst/>
                <a:latin typeface="Arial" panose="020B0604020202020204" pitchFamily="34" charset="0"/>
              </a:rPr>
              <a:t>Beispiele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 und </a:t>
            </a:r>
            <a:r>
              <a:rPr lang="en-US" sz="1400" b="0" i="0" dirty="0" err="1">
                <a:effectLst/>
                <a:latin typeface="Arial" panose="020B0604020202020204" pitchFamily="34" charset="0"/>
              </a:rPr>
              <a:t>Anwendungen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sz="1400" b="0" i="0" dirty="0" err="1">
                <a:effectLst/>
                <a:latin typeface="Arial" panose="020B0604020202020204" pitchFamily="34" charset="0"/>
              </a:rPr>
              <a:t>im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sz="1400" b="0" i="0" dirty="0" err="1">
                <a:effectLst/>
                <a:latin typeface="Arial" panose="020B0604020202020204" pitchFamily="34" charset="0"/>
              </a:rPr>
              <a:t>kontext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 der </a:t>
            </a:r>
            <a:r>
              <a:rPr lang="en-US" sz="1400" b="0" i="0" dirty="0" err="1">
                <a:effectLst/>
                <a:latin typeface="Arial" panose="020B0604020202020204" pitchFamily="34" charset="0"/>
              </a:rPr>
              <a:t>Speziellen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 Relativitätstheorie</a:t>
            </a:r>
            <a:endParaRPr lang="de-DE" sz="4400" dirty="0">
              <a:cs typeface="Aharoni" panose="02010803020104030203" pitchFamily="2" charset="-79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8DD305F-AED7-4372-8293-D1BFC81E9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1" y="3628239"/>
            <a:ext cx="8462141" cy="2531021"/>
          </a:xfrm>
        </p:spPr>
        <p:txBody>
          <a:bodyPr>
            <a:normAutofit/>
          </a:bodyPr>
          <a:lstStyle/>
          <a:p>
            <a:r>
              <a:rPr lang="de-DE" b="1" cap="none" dirty="0">
                <a:solidFill>
                  <a:schemeClr val="bg1"/>
                </a:solidFill>
              </a:rPr>
              <a:t>Paul Sander</a:t>
            </a:r>
            <a:br>
              <a:rPr lang="de-DE" b="1" cap="none" dirty="0">
                <a:solidFill>
                  <a:schemeClr val="bg1"/>
                </a:solidFill>
              </a:rPr>
            </a:br>
            <a:r>
              <a:rPr lang="de-DE" b="1" cap="none" dirty="0">
                <a:solidFill>
                  <a:schemeClr val="bg1"/>
                </a:solidFill>
              </a:rPr>
              <a:t>pasander@ethz.ch</a:t>
            </a:r>
            <a:br>
              <a:rPr lang="de-DE" b="1" cap="none" dirty="0">
                <a:solidFill>
                  <a:schemeClr val="bg1"/>
                </a:solidFill>
              </a:rPr>
            </a:br>
            <a:endParaRPr lang="de-DE" b="1" cap="none" dirty="0">
              <a:solidFill>
                <a:schemeClr val="bg1"/>
              </a:solidFill>
            </a:endParaRPr>
          </a:p>
          <a:p>
            <a:r>
              <a:rPr lang="de-DE" b="1" cap="none" dirty="0">
                <a:solidFill>
                  <a:schemeClr val="bg1"/>
                </a:solidFill>
              </a:rPr>
              <a:t>Institut für Teilchen und Astrophysik, Physik Department, ETH Zürich</a:t>
            </a:r>
            <a:br>
              <a:rPr lang="de-DE" b="1" cap="none" dirty="0">
                <a:solidFill>
                  <a:schemeClr val="bg1"/>
                </a:solidFill>
              </a:rPr>
            </a:br>
            <a:r>
              <a:rPr lang="de-DE" b="1" cap="none" dirty="0">
                <a:solidFill>
                  <a:schemeClr val="bg1"/>
                </a:solidFill>
              </a:rPr>
              <a:t>Center for Neutron and </a:t>
            </a:r>
            <a:r>
              <a:rPr lang="de-DE" b="1" cap="none" dirty="0" err="1">
                <a:solidFill>
                  <a:schemeClr val="bg1"/>
                </a:solidFill>
              </a:rPr>
              <a:t>Muon</a:t>
            </a:r>
            <a:r>
              <a:rPr lang="de-DE" b="1" cap="none" dirty="0">
                <a:solidFill>
                  <a:schemeClr val="bg1"/>
                </a:solidFill>
              </a:rPr>
              <a:t> Sciences, Paul Scherrer Institut,  </a:t>
            </a:r>
            <a:r>
              <a:rPr lang="de-DE" b="1" cap="none" dirty="0" err="1">
                <a:solidFill>
                  <a:schemeClr val="bg1"/>
                </a:solidFill>
              </a:rPr>
              <a:t>Villigen</a:t>
            </a:r>
            <a:endParaRPr lang="de-DE" b="1" cap="none" dirty="0">
              <a:solidFill>
                <a:schemeClr val="bg1"/>
              </a:solidFill>
            </a:endParaRPr>
          </a:p>
          <a:p>
            <a:endParaRPr lang="de-DE" b="1" cap="none" dirty="0">
              <a:solidFill>
                <a:schemeClr val="bg1"/>
              </a:solidFill>
            </a:endParaRPr>
          </a:p>
          <a:p>
            <a:r>
              <a:rPr lang="de-DE" b="1" cap="none" dirty="0">
                <a:solidFill>
                  <a:schemeClr val="bg1"/>
                </a:solidFill>
              </a:rPr>
              <a:t>Zürich, der 8. April 2025</a:t>
            </a:r>
          </a:p>
          <a:p>
            <a:endParaRPr lang="de-DE" b="1" cap="none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8383E86-B186-2B21-8907-6587D7AE2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705" y="5340094"/>
            <a:ext cx="4355606" cy="65334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8A89E95-4603-6865-1ACB-33C9E5A386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6751" y="5340094"/>
            <a:ext cx="1617432" cy="66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28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FED3407-DF10-76CA-ED1D-0BEAF150D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Grundlegende </a:t>
            </a:r>
            <a:r>
              <a:rPr lang="en-US" dirty="0" err="1"/>
              <a:t>Annahmen</a:t>
            </a:r>
            <a:r>
              <a:rPr lang="en-US" dirty="0"/>
              <a:t> und </a:t>
            </a:r>
            <a:r>
              <a:rPr lang="en-US" dirty="0" err="1"/>
              <a:t>Zusammenhänge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3F25A77-C60D-47FB-D157-C65FA060C36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 anchor="t"/>
              <a:lstStyle/>
              <a:p>
                <a:r>
                  <a:rPr lang="en-US" dirty="0"/>
                  <a:t>Bewegung </a:t>
                </a:r>
                <a:r>
                  <a:rPr lang="en-US" dirty="0" err="1"/>
                  <a:t>findet</a:t>
                </a:r>
                <a:r>
                  <a:rPr lang="en-US" dirty="0"/>
                  <a:t> in </a:t>
                </a:r>
                <a:r>
                  <a:rPr lang="en-US" dirty="0" err="1"/>
                  <a:t>einer</a:t>
                </a:r>
                <a:r>
                  <a:rPr lang="en-US" dirty="0"/>
                  <a:t> Dimension </a:t>
                </a:r>
                <a:r>
                  <a:rPr lang="en-US" dirty="0" err="1"/>
                  <a:t>statt</a:t>
                </a:r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b="0" dirty="0"/>
                  <a:t> 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</m:den>
                    </m:f>
                  </m:oMath>
                </a14:m>
                <a:endParaRPr lang="en-US" b="0" dirty="0"/>
              </a:p>
              <a:p>
                <a:r>
                  <a:rPr lang="en-US" dirty="0" err="1"/>
                  <a:t>Ruhendes</a:t>
                </a:r>
                <a:r>
                  <a:rPr lang="en-US" dirty="0"/>
                  <a:t> System K und </a:t>
                </a:r>
                <a:r>
                  <a:rPr lang="en-US" dirty="0" err="1"/>
                  <a:t>bewegtes</a:t>
                </a:r>
                <a:r>
                  <a:rPr lang="en-US" dirty="0"/>
                  <a:t> System K’</a:t>
                </a:r>
              </a:p>
              <a:p>
                <a:r>
                  <a:rPr lang="en-US" dirty="0" err="1"/>
                  <a:t>Raumachse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und </a:t>
                </a:r>
                <a:r>
                  <a:rPr lang="en-US" dirty="0" err="1"/>
                  <a:t>Zeitachse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3F25A77-C60D-47FB-D157-C65FA060C3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49" t="-839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0ED1845-5D53-9C2D-C3E7-8D5081335D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2396" y="1877028"/>
            <a:ext cx="4350935" cy="435093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BCD4D-0E53-49A7-A4FC-CB573B85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37E33-DCA0-4C7F-A116-3D7ECA99B758}" type="datetime2">
              <a:rPr lang="en-CA" smtClean="0"/>
              <a:t>Friday, March 21, 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5080D-CD67-5270-AA72-4A52F3408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Paul Sander, pasander@ethz.ch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1BE9F-73EB-BF2E-769B-A10162F92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6971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FB6D94-F4BB-5913-9AAD-D25FB00F3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link="rId2"/>
          <a:srcRect/>
          <a:stretch>
            <a:fillRect/>
          </a:stretch>
        </p:blipFill>
        <p:spPr>
          <a:xfrm>
            <a:off x="439948" y="-422692"/>
            <a:ext cx="7556740" cy="7556740"/>
          </a:xfrm>
        </p:spPr>
      </p:pic>
    </p:spTree>
    <p:extLst>
      <p:ext uri="{BB962C8B-B14F-4D97-AF65-F5344CB8AC3E}">
        <p14:creationId xmlns:p14="http://schemas.microsoft.com/office/powerpoint/2010/main" val="26043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75F3D-C067-F07F-01E1-A2C97B7E3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63BCCF-9627-37EA-70AE-96BC7FA37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link="rId2"/>
          <a:srcRect/>
          <a:stretch>
            <a:fillRect/>
          </a:stretch>
        </p:blipFill>
        <p:spPr>
          <a:xfrm>
            <a:off x="439948" y="-422692"/>
            <a:ext cx="7556740" cy="755674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F2C111-F291-2C52-453C-26534E9C5350}"/>
              </a:ext>
            </a:extLst>
          </p:cNvPr>
          <p:cNvSpPr txBox="1"/>
          <p:nvPr/>
        </p:nvSpPr>
        <p:spPr>
          <a:xfrm>
            <a:off x="8672601" y="278296"/>
            <a:ext cx="2300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 event at </a:t>
            </a:r>
          </a:p>
          <a:p>
            <a:r>
              <a:rPr lang="en-US" dirty="0">
                <a:solidFill>
                  <a:schemeClr val="bg1"/>
                </a:solidFill>
              </a:rPr>
              <a:t>z 	= 1</a:t>
            </a:r>
          </a:p>
          <a:p>
            <a:r>
              <a:rPr lang="en-US" dirty="0" err="1">
                <a:solidFill>
                  <a:schemeClr val="bg1"/>
                </a:solidFill>
              </a:rPr>
              <a:t>ct</a:t>
            </a:r>
            <a:r>
              <a:rPr lang="en-US" dirty="0">
                <a:solidFill>
                  <a:schemeClr val="bg1"/>
                </a:solidFill>
              </a:rPr>
              <a:t>	= 1</a:t>
            </a:r>
            <a:endParaRPr lang="en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759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A5333-7ECB-56F6-0F76-15F8C398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174196-8C4F-894C-F057-BA428C872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link="rId2"/>
          <a:srcRect/>
          <a:stretch>
            <a:fillRect/>
          </a:stretch>
        </p:blipFill>
        <p:spPr>
          <a:xfrm>
            <a:off x="439948" y="-422692"/>
            <a:ext cx="7556740" cy="7556740"/>
          </a:xfrm>
        </p:spPr>
      </p:pic>
    </p:spTree>
    <p:extLst>
      <p:ext uri="{BB962C8B-B14F-4D97-AF65-F5344CB8AC3E}">
        <p14:creationId xmlns:p14="http://schemas.microsoft.com/office/powerpoint/2010/main" val="2469453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70449-BA57-C04C-4200-A8CF8F3A7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F24675-C23C-43FC-E722-FDAEAC09A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link="rId2"/>
          <a:srcRect/>
          <a:stretch>
            <a:fillRect/>
          </a:stretch>
        </p:blipFill>
        <p:spPr>
          <a:xfrm>
            <a:off x="439948" y="-422692"/>
            <a:ext cx="7556740" cy="7556740"/>
          </a:xfrm>
        </p:spPr>
      </p:pic>
    </p:spTree>
    <p:extLst>
      <p:ext uri="{BB962C8B-B14F-4D97-AF65-F5344CB8AC3E}">
        <p14:creationId xmlns:p14="http://schemas.microsoft.com/office/powerpoint/2010/main" val="1932363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3A00-2C99-2075-FCE1-683B869DA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F5FABB-B0FA-DCB2-041A-419C82B20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link="rId2"/>
          <a:srcRect/>
          <a:stretch>
            <a:fillRect/>
          </a:stretch>
        </p:blipFill>
        <p:spPr>
          <a:xfrm>
            <a:off x="439948" y="-422692"/>
            <a:ext cx="7556740" cy="7556740"/>
          </a:xfrm>
        </p:spPr>
      </p:pic>
    </p:spTree>
    <p:extLst>
      <p:ext uri="{BB962C8B-B14F-4D97-AF65-F5344CB8AC3E}">
        <p14:creationId xmlns:p14="http://schemas.microsoft.com/office/powerpoint/2010/main" val="420688927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Benutzerdefiniert 1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000B3F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1_Dividende">
  <a:themeElements>
    <a:clrScheme name="Benutzerdefiniert 1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000B3F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TM03457464[[fn=Dividende]]</Template>
  <TotalTime>0</TotalTime>
  <Words>148</Words>
  <Application>Microsoft Office PowerPoint</Application>
  <PresentationFormat>Widescreen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Aharoni</vt:lpstr>
      <vt:lpstr>Arial</vt:lpstr>
      <vt:lpstr>Calibri</vt:lpstr>
      <vt:lpstr>Cambria Math</vt:lpstr>
      <vt:lpstr>Gill Sans MT</vt:lpstr>
      <vt:lpstr>Wingdings 2</vt:lpstr>
      <vt:lpstr>Dividende</vt:lpstr>
      <vt:lpstr>1_Dividende</vt:lpstr>
      <vt:lpstr>Minkowski Diagramme Beispiele und Anwendungen im kontext der Speziellen Relativitätstheorie</vt:lpstr>
      <vt:lpstr>Grundlegende Annahmen und Zusammenhänge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CROC v2 Testing ETH Zurich</dc:title>
  <dc:creator>Paul Sander</dc:creator>
  <cp:keywords>CROC, CROCv2, Datamerging, Aurora, ETH</cp:keywords>
  <cp:lastModifiedBy>Paul Sander</cp:lastModifiedBy>
  <cp:revision>71</cp:revision>
  <dcterms:created xsi:type="dcterms:W3CDTF">2022-02-08T00:12:22Z</dcterms:created>
  <dcterms:modified xsi:type="dcterms:W3CDTF">2025-03-21T14:42:03Z</dcterms:modified>
</cp:coreProperties>
</file>