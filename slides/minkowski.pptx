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784" r:id="rId1"/>
    <p:sldMasterId id="2147483798" r:id="rId2"/>
  </p:sldMasterIdLst>
  <p:notesMasterIdLst>
    <p:notesMasterId r:id="rId18"/>
  </p:notesMasterIdLst>
  <p:sldIdLst>
    <p:sldId id="256" r:id="rId3"/>
    <p:sldId id="257" r:id="rId4"/>
    <p:sldId id="258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59" r:id="rId14"/>
    <p:sldId id="270" r:id="rId15"/>
    <p:sldId id="268" r:id="rId16"/>
    <p:sldId id="269" r:id="rId1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62426"/>
    <a:srgbClr val="FF8418"/>
    <a:srgbClr val="41AB41"/>
    <a:srgbClr val="96655A"/>
    <a:srgbClr val="AB85CB"/>
    <a:srgbClr val="1771B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204" autoAdjust="0"/>
    <p:restoredTop sz="93333" autoAdjust="0"/>
  </p:normalViewPr>
  <p:slideViewPr>
    <p:cSldViewPr snapToGrid="0">
      <p:cViewPr varScale="1">
        <p:scale>
          <a:sx n="168" d="100"/>
          <a:sy n="168" d="100"/>
        </p:scale>
        <p:origin x="3354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1" Type="http://schemas.openxmlformats.org/officeDocument/2006/relationships/theme" Target="theme/them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10" Type="http://schemas.openxmlformats.org/officeDocument/2006/relationships/slide" Target="slides/slide8.xml"/><Relationship Id="rId19" Type="http://schemas.openxmlformats.org/officeDocument/2006/relationships/presProps" Target="pres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E946714-66A9-4331-9687-D7DE69600F8C}" type="datetimeFigureOut">
              <a:rPr lang="de-DE" smtClean="0"/>
              <a:t>21.03.2025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83BE582-3C9C-4E6A-A63A-4ED2653A53B1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476462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 supervisor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3BE582-3C9C-4E6A-A63A-4ED2653A53B1}" type="slidenum">
              <a:rPr lang="de-DE" smtClean="0"/>
              <a:t>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0592057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3BE582-3C9C-4E6A-A63A-4ED2653A53B1}" type="slidenum">
              <a:rPr lang="de-DE" smtClean="0"/>
              <a:t>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6517916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effectLst/>
        </p:spPr>
        <p:txBody>
          <a:bodyPr anchor="b">
            <a:normAutofit/>
          </a:bodyPr>
          <a:lstStyle>
            <a:lvl1pPr>
              <a:defRPr sz="3600">
                <a:solidFill>
                  <a:schemeClr val="accent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</p:spPr>
        <p:txBody>
          <a:bodyPr anchor="t">
            <a:normAutofit/>
          </a:bodyPr>
          <a:lstStyle>
            <a:lvl1pPr marL="0" indent="0" algn="l">
              <a:buNone/>
              <a:defRPr sz="1600" cap="all">
                <a:solidFill>
                  <a:schemeClr val="accent2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605951" y="5956137"/>
            <a:ext cx="284480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C81DDBC-4466-4E4D-8348-9E61A07BBB23}" type="datetime2">
              <a:rPr lang="en-CA" smtClean="0"/>
              <a:t>Friday, March 21, 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81192" y="5951811"/>
            <a:ext cx="691721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de-DE"/>
              <a:t>Paul Sander, pasander@student.ethz.ch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1644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6291262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3678303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A37E33-DCA0-4C7F-A116-3D7ECA99B758}" type="datetime2">
              <a:rPr lang="en-CA" smtClean="0"/>
              <a:t>Friday, March 21, 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Paul Sander, pasander@student.ethz.ch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52508" cy="365125"/>
          </a:xfrm>
        </p:spPr>
        <p:txBody>
          <a:bodyPr/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8034611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3043910"/>
            <a:ext cx="11029615" cy="1497507"/>
          </a:xfrm>
        </p:spPr>
        <p:txBody>
          <a:bodyPr anchor="b">
            <a:normAutofit/>
          </a:bodyPr>
          <a:lstStyle>
            <a:lvl1pPr algn="l">
              <a:defRPr sz="3600" b="0" cap="all">
                <a:solidFill>
                  <a:schemeClr val="accent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</p:spPr>
        <p:txBody>
          <a:bodyPr anchor="t">
            <a:normAutofit/>
          </a:bodyPr>
          <a:lstStyle>
            <a:lvl1pPr marL="0" indent="0" algn="l">
              <a:buNone/>
              <a:defRPr sz="1800" cap="all">
                <a:solidFill>
                  <a:schemeClr val="accent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5B55F0DF-0DE4-46A6-89EE-D85721A78BFF}" type="datetime2">
              <a:rPr lang="en-CA" smtClean="0"/>
              <a:t>Friday, March 21, 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de-DE"/>
              <a:t>Paul Sander, pasander@student.ethz.ch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8834501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81193" y="2228003"/>
            <a:ext cx="5422390" cy="3633047"/>
          </a:xfrm>
        </p:spPr>
        <p:txBody>
          <a:bodyPr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8417" y="2228003"/>
            <a:ext cx="5422392" cy="3633047"/>
          </a:xfrm>
        </p:spPr>
        <p:txBody>
          <a:bodyPr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96B742-5549-4C1E-A4A7-964958457E23}" type="datetime2">
              <a:rPr lang="en-CA" smtClean="0"/>
              <a:t>Friday, March 21, 2025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Paul Sander, pasander@student.ethz.ch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2230578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/>
          <a:lstStyle/>
          <a:p>
            <a:endParaRPr lang="de-DE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de-DE" dirty="0"/>
              <a:t>Mastertitelformat bearbeiten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E52A30-8CC1-4184-BF4D-47E2B21E4EAF}" type="datetime2">
              <a:rPr lang="en-CA" smtClean="0"/>
              <a:t>Friday, March 21, 2025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Paul Sander, pasander@student.ethz.ch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8411123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A64B94-830A-44DB-B256-EB4AB7B8943B}" type="datetime2">
              <a:rPr lang="en-CA" smtClean="0"/>
              <a:t>Friday, March 21, 2025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Paul Sander, pasander@student.ethz.ch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27431558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7219" y="2250892"/>
            <a:ext cx="5087075" cy="536005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1194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3735" y="2250892"/>
            <a:ext cx="5087073" cy="553373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709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A684CD-BF8B-4444-AC4B-E9077F770D42}" type="datetime2">
              <a:rPr lang="en-CA" smtClean="0"/>
              <a:t>Friday, March 21, 2025</a:t>
            </a:fld>
            <a:endParaRPr lang="de-D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Paul Sander, pasander@student.ethz.ch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8388891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2ED8E9-D70F-45C4-8048-A836134AE31C}" type="datetime2">
              <a:rPr lang="en-CA" smtClean="0"/>
              <a:t>Friday, March 21, 2025</a:t>
            </a:fld>
            <a:endParaRPr lang="de-D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Paul Sander, pasander@student.ethz.ch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7" name="Rectangle 6"/>
          <p:cNvSpPr>
            <a:spLocks noChangeAspect="1"/>
          </p:cNvSpPr>
          <p:nvPr/>
        </p:nvSpPr>
        <p:spPr>
          <a:xfrm>
            <a:off x="440683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188232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FEC878-C261-4EEC-84F8-2911246240CC}" type="datetime2">
              <a:rPr lang="en-CA" smtClean="0"/>
              <a:t>Friday, March 21, 2025</a:t>
            </a:fld>
            <a:endParaRPr lang="de-D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Paul Sander, pasander@student.ethz.ch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959482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447817" y="5141973"/>
            <a:ext cx="11298200" cy="127470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5262296"/>
            <a:ext cx="4909445" cy="689514"/>
          </a:xfrm>
        </p:spPr>
        <p:txBody>
          <a:bodyPr anchor="ctr"/>
          <a:lstStyle>
            <a:lvl1pPr algn="l">
              <a:defRPr sz="2000" b="0"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7816" y="601200"/>
            <a:ext cx="11292840" cy="4204800"/>
          </a:xfrm>
        </p:spPr>
        <p:txBody>
          <a:bodyPr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740823" y="5262296"/>
            <a:ext cx="5869987" cy="689515"/>
          </a:xfrm>
        </p:spPr>
        <p:txBody>
          <a:bodyPr anchor="ctr">
            <a:normAutofit/>
          </a:bodyPr>
          <a:lstStyle>
            <a:lvl1pPr marL="0" indent="0" algn="r">
              <a:buNone/>
              <a:defRPr sz="1100">
                <a:solidFill>
                  <a:schemeClr val="bg1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4A011472-C2FB-4557-976A-45B9E45E41B8}" type="datetime2">
              <a:rPr lang="en-CA" smtClean="0"/>
              <a:t>Friday, March 21, 2025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de-DE"/>
              <a:t>Paul Sander, pasander@student.ethz.ch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3930209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</p:spPr>
        <p:txBody>
          <a:bodyPr anchor="b">
            <a:normAutofit/>
          </a:bodyPr>
          <a:lstStyle>
            <a:lvl1pPr algn="l">
              <a:defRPr sz="2400" b="0">
                <a:solidFill>
                  <a:schemeClr val="accent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47817" y="599725"/>
            <a:ext cx="11290859" cy="3557252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81192" y="5260127"/>
            <a:ext cx="11029617" cy="598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B1A5E8-2D2A-4061-8930-BA891F6E5824}" type="datetime2">
              <a:rPr lang="en-CA" smtClean="0"/>
              <a:t>Friday, March 21, 2025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Paul Sander, pasander@student.ethz.ch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5687450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B79B12-0087-499C-8708-C48C1D5EFD8A}" type="datetime2">
              <a:rPr lang="en-CA" smtClean="0"/>
              <a:t>Friday, March 21, 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Paul Sander, pasander@student.ethz.ch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51154118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8839201" y="599725"/>
            <a:ext cx="2906817" cy="581695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1" y="675726"/>
            <a:ext cx="2004164" cy="5183073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4923" y="675726"/>
            <a:ext cx="7896279" cy="5183073"/>
          </a:xfrm>
        </p:spPr>
        <p:txBody>
          <a:bodyPr vert="eaVert" anchor="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993673" y="5956137"/>
            <a:ext cx="1328141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1F664A41-A95B-4B58-B281-ED13D91A7603}" type="datetime2">
              <a:rPr lang="en-CA" smtClean="0"/>
              <a:t>Friday, March 21, 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774923" y="5951811"/>
            <a:ext cx="7896279" cy="365125"/>
          </a:xfrm>
        </p:spPr>
        <p:txBody>
          <a:bodyPr/>
          <a:lstStyle/>
          <a:p>
            <a:r>
              <a:rPr lang="de-DE"/>
              <a:t>Paul Sander, pasander@student.ethz.ch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46615" y="5956137"/>
            <a:ext cx="1164195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46800888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 userDrawn="1"/>
        </p:nvSpPr>
        <p:spPr>
          <a:xfrm>
            <a:off x="8404166" y="0"/>
            <a:ext cx="3787833" cy="6858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b="0">
                <a:solidFill>
                  <a:schemeClr val="bg1"/>
                </a:solidFill>
              </a:defRPr>
            </a:lvl1pPr>
          </a:lstStyle>
          <a:p>
            <a:fld id="{12F3EEEF-9270-448B-8799-2AA9B50D0F5B}" type="datetime2">
              <a:rPr lang="en-CA" smtClean="0"/>
              <a:t>Friday, March 21, 2025</a:t>
            </a:fld>
            <a:endParaRPr lang="de-D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de-DE" dirty="0"/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B4802001-C76A-40BD-B2EB-DA779CB00C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1155469"/>
            <a:ext cx="7166270" cy="470332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367041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611985" y="5956137"/>
            <a:ext cx="183876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r>
              <a:rPr lang="de-DE" dirty="0"/>
              <a:t>Donnerstag, 20. März 2025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81192" y="5951811"/>
            <a:ext cx="26607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none">
                <a:solidFill>
                  <a:schemeClr val="accent2"/>
                </a:solidFill>
              </a:defRPr>
            </a:lvl1pPr>
          </a:lstStyle>
          <a:p>
            <a:r>
              <a:rPr lang="de-DE"/>
              <a:t>Paul Sander, pasander@student.ethz.ch</a:t>
            </a:r>
            <a:endParaRPr lang="de-D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endParaRPr lang="de-DE" dirty="0"/>
          </a:p>
        </p:txBody>
      </p:sp>
      <p:sp>
        <p:nvSpPr>
          <p:cNvPr id="9" name="Rectangle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3" name="Footer Placeholder 4">
            <a:extLst>
              <a:ext uri="{FF2B5EF4-FFF2-40B4-BE49-F238E27FC236}">
                <a16:creationId xmlns:a16="http://schemas.microsoft.com/office/drawing/2014/main" id="{A8DD394E-F29C-48AC-A6F9-BA3693CFB28B}"/>
              </a:ext>
            </a:extLst>
          </p:cNvPr>
          <p:cNvSpPr txBox="1">
            <a:spLocks/>
          </p:cNvSpPr>
          <p:nvPr userDrawn="1"/>
        </p:nvSpPr>
        <p:spPr>
          <a:xfrm>
            <a:off x="3349514" y="5951810"/>
            <a:ext cx="515492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457200" rtl="0" eaLnBrk="1" latinLnBrk="0" hangingPunct="1">
              <a:defRPr sz="900" kern="1200" cap="all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cap="none" dirty="0"/>
              <a:t>Minkowski Diagramme</a:t>
            </a:r>
          </a:p>
        </p:txBody>
      </p:sp>
    </p:spTree>
    <p:extLst>
      <p:ext uri="{BB962C8B-B14F-4D97-AF65-F5344CB8AC3E}">
        <p14:creationId xmlns:p14="http://schemas.microsoft.com/office/powerpoint/2010/main" val="25628895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85" r:id="rId1"/>
    <p:sldLayoutId id="2147483786" r:id="rId2"/>
    <p:sldLayoutId id="2147483787" r:id="rId3"/>
    <p:sldLayoutId id="2147483788" r:id="rId4"/>
    <p:sldLayoutId id="2147483811" r:id="rId5"/>
    <p:sldLayoutId id="2147483812" r:id="rId6"/>
    <p:sldLayoutId id="2147483789" r:id="rId7"/>
    <p:sldLayoutId id="2147483790" r:id="rId8"/>
    <p:sldLayoutId id="2147483791" r:id="rId9"/>
    <p:sldLayoutId id="2147483792" r:id="rId10"/>
    <p:sldLayoutId id="2147483793" r:id="rId11"/>
    <p:sldLayoutId id="2147483794" r:id="rId12"/>
    <p:sldLayoutId id="2147483795" r:id="rId13"/>
  </p:sldLayoutIdLst>
  <p:hf hdr="0"/>
  <p:txStyles>
    <p:titleStyle>
      <a:lvl1pPr algn="l" defTabSz="457200" rtl="0" eaLnBrk="1" latinLnBrk="0" hangingPunct="1">
        <a:spcBef>
          <a:spcPct val="0"/>
        </a:spcBef>
        <a:buNone/>
        <a:defRPr sz="2800" b="0" kern="1200" cap="all">
          <a:solidFill>
            <a:schemeClr val="bg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6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800" kern="1200">
          <a:solidFill>
            <a:schemeClr val="tx2"/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611985" y="5956137"/>
            <a:ext cx="183876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5B784850-771A-44E0-8EA9-A966A4C42E11}" type="datetime2">
              <a:rPr lang="en-CA" smtClean="0"/>
              <a:t>Friday, March 21, 2025</a:t>
            </a:fld>
            <a:endParaRPr lang="de-D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endParaRPr lang="de-DE" dirty="0"/>
          </a:p>
        </p:txBody>
      </p:sp>
      <p:sp>
        <p:nvSpPr>
          <p:cNvPr id="9" name="Rectangle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36939984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10" r:id="rId1"/>
  </p:sldLayoutIdLst>
  <p:hf hdr="0"/>
  <p:txStyles>
    <p:titleStyle>
      <a:lvl1pPr algn="l" defTabSz="457200" rtl="0" eaLnBrk="1" latinLnBrk="0" hangingPunct="1">
        <a:spcBef>
          <a:spcPct val="0"/>
        </a:spcBef>
        <a:buNone/>
        <a:defRPr sz="2800" b="0" kern="1200" cap="all">
          <a:solidFill>
            <a:schemeClr val="bg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6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800" kern="1200">
          <a:solidFill>
            <a:schemeClr val="tx2"/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sv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6.sv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file:///C:\Users\sande\Documents\SRT_plotting\img\empty.png" TargetMode="External"/><Relationship Id="rId1" Type="http://schemas.openxmlformats.org/officeDocument/2006/relationships/slideLayout" Target="../slideLayouts/slideLayout1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file:///C:\Users\sande\Documents\SRT_plotting\img\one_point_no_lines.png" TargetMode="External"/><Relationship Id="rId1" Type="http://schemas.openxmlformats.org/officeDocument/2006/relationships/slideLayout" Target="../slideLayouts/slideLayout1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file:///C:\Users\sande\Documents\SRT_plotting\img\one_point_partial_lines.png" TargetMode="External"/><Relationship Id="rId1" Type="http://schemas.openxmlformats.org/officeDocument/2006/relationships/slideLayout" Target="../slideLayouts/slideLayout1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file:///C:\Users\sande\Documents\SRT_plotting\img\one_point_full_lines.png" TargetMode="External"/><Relationship Id="rId1" Type="http://schemas.openxmlformats.org/officeDocument/2006/relationships/slideLayout" Target="../slideLayouts/slideLayout1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file:///C:\Users\sande\Documents\SRT_plotting\img\two_points_one_line.png" TargetMode="External"/><Relationship Id="rId1" Type="http://schemas.openxmlformats.org/officeDocument/2006/relationships/slideLayout" Target="../slideLayouts/slideLayout1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file:///C:\Users\sande\Documents\SRT_plotting\img\two_points_partial_lines.png" TargetMode="External"/><Relationship Id="rId1" Type="http://schemas.openxmlformats.org/officeDocument/2006/relationships/slideLayout" Target="../slideLayouts/slideLayout1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file:///C:\Users\sande\Documents\SRT_plotting\img\two_points_full_lines.png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file:///C:\Users\sande\Documents\SRT_plotting\img\two_points_connected.png" TargetMode="External"/><Relationship Id="rId1" Type="http://schemas.openxmlformats.org/officeDocument/2006/relationships/slideLayout" Target="../slideLayouts/slideLayout1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file:///C:\Users\sande\Documents\SRT_plotting\img\two_points_connected_coordinates.png" TargetMode="External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file:///C:\Users\sande\Documents\SRT_plotting\img\light.png" TargetMode="External"/><Relationship Id="rId1" Type="http://schemas.openxmlformats.org/officeDocument/2006/relationships/slideLayout" Target="../slideLayouts/slideLayout1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file:///C:\Users\sande\Documents\SRT_plotting\img\light_with_both.png" TargetMode="External"/><Relationship Id="rId1" Type="http://schemas.openxmlformats.org/officeDocument/2006/relationships/slideLayout" Target="../slideLayouts/slideLayout1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file:///C:\Users\sande\Documents\SRT_plotting\img\light_with_time.png" TargetMode="External"/><Relationship Id="rId1" Type="http://schemas.openxmlformats.org/officeDocument/2006/relationships/slideLayout" Target="../slideLayouts/slideLayout1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file:///C:\Users\sande\Documents\SRT_plotting\img\light_with_space.png" TargetMode="External"/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C9DA589-D18C-4E9B-BBD2-F4154296F25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2400" b="0" i="0" dirty="0">
                <a:effectLst/>
                <a:latin typeface="Arial" panose="020B0604020202020204" pitchFamily="34" charset="0"/>
              </a:rPr>
              <a:t>Minkowski </a:t>
            </a:r>
            <a:r>
              <a:rPr lang="en-US" sz="2400" b="0" i="0" dirty="0" err="1">
                <a:effectLst/>
                <a:latin typeface="Arial" panose="020B0604020202020204" pitchFamily="34" charset="0"/>
              </a:rPr>
              <a:t>Diagramme</a:t>
            </a:r>
            <a:br>
              <a:rPr lang="en-US" sz="2400" b="0" i="0" dirty="0">
                <a:effectLst/>
                <a:latin typeface="Arial" panose="020B0604020202020204" pitchFamily="34" charset="0"/>
              </a:rPr>
            </a:br>
            <a:r>
              <a:rPr lang="en-US" sz="1400" b="0" i="0" dirty="0" err="1">
                <a:effectLst/>
                <a:latin typeface="Arial" panose="020B0604020202020204" pitchFamily="34" charset="0"/>
              </a:rPr>
              <a:t>Beispiele</a:t>
            </a:r>
            <a:r>
              <a:rPr lang="en-US" sz="1400" b="0" i="0" dirty="0">
                <a:effectLst/>
                <a:latin typeface="Arial" panose="020B0604020202020204" pitchFamily="34" charset="0"/>
              </a:rPr>
              <a:t> und </a:t>
            </a:r>
            <a:r>
              <a:rPr lang="en-US" sz="1400" b="0" i="0" dirty="0" err="1">
                <a:effectLst/>
                <a:latin typeface="Arial" panose="020B0604020202020204" pitchFamily="34" charset="0"/>
              </a:rPr>
              <a:t>Anwendungen</a:t>
            </a:r>
            <a:r>
              <a:rPr lang="en-US" sz="1400" b="0" i="0" dirty="0">
                <a:effectLst/>
                <a:latin typeface="Arial" panose="020B0604020202020204" pitchFamily="34" charset="0"/>
              </a:rPr>
              <a:t> </a:t>
            </a:r>
            <a:r>
              <a:rPr lang="en-US" sz="1400" b="0" i="0" dirty="0" err="1">
                <a:effectLst/>
                <a:latin typeface="Arial" panose="020B0604020202020204" pitchFamily="34" charset="0"/>
              </a:rPr>
              <a:t>im</a:t>
            </a:r>
            <a:r>
              <a:rPr lang="en-US" sz="1400" b="0" i="0" dirty="0">
                <a:effectLst/>
                <a:latin typeface="Arial" panose="020B0604020202020204" pitchFamily="34" charset="0"/>
              </a:rPr>
              <a:t> </a:t>
            </a:r>
            <a:r>
              <a:rPr lang="en-US" sz="1400" b="0" i="0" dirty="0" err="1">
                <a:effectLst/>
                <a:latin typeface="Arial" panose="020B0604020202020204" pitchFamily="34" charset="0"/>
              </a:rPr>
              <a:t>kontext</a:t>
            </a:r>
            <a:r>
              <a:rPr lang="en-US" sz="1400" b="0" i="0" dirty="0">
                <a:effectLst/>
                <a:latin typeface="Arial" panose="020B0604020202020204" pitchFamily="34" charset="0"/>
              </a:rPr>
              <a:t> der </a:t>
            </a:r>
            <a:r>
              <a:rPr lang="en-US" sz="1400" b="0" i="0" dirty="0" err="1">
                <a:effectLst/>
                <a:latin typeface="Arial" panose="020B0604020202020204" pitchFamily="34" charset="0"/>
              </a:rPr>
              <a:t>Speziellen</a:t>
            </a:r>
            <a:r>
              <a:rPr lang="en-US" sz="1400" b="0" i="0" dirty="0">
                <a:effectLst/>
                <a:latin typeface="Arial" panose="020B0604020202020204" pitchFamily="34" charset="0"/>
              </a:rPr>
              <a:t> Relativitätstheorie</a:t>
            </a:r>
            <a:endParaRPr lang="de-DE" sz="4400" dirty="0">
              <a:cs typeface="Aharoni" panose="02010803020104030203" pitchFamily="2" charset="-79"/>
            </a:endParaRP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58DD305F-AED7-4372-8293-D1BFC81E907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81191" y="3628239"/>
            <a:ext cx="8462141" cy="2531021"/>
          </a:xfrm>
        </p:spPr>
        <p:txBody>
          <a:bodyPr>
            <a:normAutofit/>
          </a:bodyPr>
          <a:lstStyle/>
          <a:p>
            <a:r>
              <a:rPr lang="de-DE" b="1" cap="none" dirty="0">
                <a:solidFill>
                  <a:schemeClr val="bg1"/>
                </a:solidFill>
              </a:rPr>
              <a:t>Paul Sander</a:t>
            </a:r>
            <a:br>
              <a:rPr lang="de-DE" b="1" cap="none" dirty="0">
                <a:solidFill>
                  <a:schemeClr val="bg1"/>
                </a:solidFill>
              </a:rPr>
            </a:br>
            <a:r>
              <a:rPr lang="de-DE" b="1" cap="none" dirty="0">
                <a:solidFill>
                  <a:schemeClr val="bg1"/>
                </a:solidFill>
              </a:rPr>
              <a:t>pasander@ethz.ch</a:t>
            </a:r>
            <a:br>
              <a:rPr lang="de-DE" b="1" cap="none" dirty="0">
                <a:solidFill>
                  <a:schemeClr val="bg1"/>
                </a:solidFill>
              </a:rPr>
            </a:br>
            <a:endParaRPr lang="de-DE" b="1" cap="none" dirty="0">
              <a:solidFill>
                <a:schemeClr val="bg1"/>
              </a:solidFill>
            </a:endParaRPr>
          </a:p>
          <a:p>
            <a:r>
              <a:rPr lang="de-DE" b="1" cap="none" dirty="0">
                <a:solidFill>
                  <a:schemeClr val="bg1"/>
                </a:solidFill>
              </a:rPr>
              <a:t>Institut für Teilchen und Astrophysik, Physik Department, ETH Zürich</a:t>
            </a:r>
            <a:br>
              <a:rPr lang="de-DE" b="1" cap="none" dirty="0">
                <a:solidFill>
                  <a:schemeClr val="bg1"/>
                </a:solidFill>
              </a:rPr>
            </a:br>
            <a:r>
              <a:rPr lang="de-DE" b="1" cap="none" dirty="0">
                <a:solidFill>
                  <a:schemeClr val="bg1"/>
                </a:solidFill>
              </a:rPr>
              <a:t>Center for Neutron and </a:t>
            </a:r>
            <a:r>
              <a:rPr lang="de-DE" b="1" cap="none" dirty="0" err="1">
                <a:solidFill>
                  <a:schemeClr val="bg1"/>
                </a:solidFill>
              </a:rPr>
              <a:t>Muon</a:t>
            </a:r>
            <a:r>
              <a:rPr lang="de-DE" b="1" cap="none" dirty="0">
                <a:solidFill>
                  <a:schemeClr val="bg1"/>
                </a:solidFill>
              </a:rPr>
              <a:t> Sciences, Paul Scherrer Institut,  </a:t>
            </a:r>
            <a:r>
              <a:rPr lang="de-DE" b="1" cap="none" dirty="0" err="1">
                <a:solidFill>
                  <a:schemeClr val="bg1"/>
                </a:solidFill>
              </a:rPr>
              <a:t>Villigen</a:t>
            </a:r>
            <a:endParaRPr lang="de-DE" b="1" cap="none" dirty="0">
              <a:solidFill>
                <a:schemeClr val="bg1"/>
              </a:solidFill>
            </a:endParaRPr>
          </a:p>
          <a:p>
            <a:endParaRPr lang="de-DE" b="1" cap="none" dirty="0">
              <a:solidFill>
                <a:schemeClr val="bg1"/>
              </a:solidFill>
            </a:endParaRPr>
          </a:p>
          <a:p>
            <a:r>
              <a:rPr lang="de-DE" b="1" cap="none" dirty="0">
                <a:solidFill>
                  <a:schemeClr val="bg1"/>
                </a:solidFill>
              </a:rPr>
              <a:t>Zürich, der 8. April 2025</a:t>
            </a:r>
          </a:p>
          <a:p>
            <a:endParaRPr lang="de-DE" b="1" cap="none" dirty="0">
              <a:solidFill>
                <a:schemeClr val="bg1"/>
              </a:solidFill>
            </a:endParaRP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D8383E86-B186-2B21-8907-6587D7AE2D8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05705" y="5340094"/>
            <a:ext cx="4355606" cy="653341"/>
          </a:xfrm>
          <a:prstGeom prst="rect">
            <a:avLst/>
          </a:prstGeom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08A89E95-4603-6865-1ACB-33C9E5A3865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616751" y="5340094"/>
            <a:ext cx="1617432" cy="6665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34281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FED3407-DF10-76CA-ED1D-0BEAF150D3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Grundlegende </a:t>
            </a:r>
            <a:r>
              <a:rPr lang="en-US" dirty="0" err="1"/>
              <a:t>Annahmen</a:t>
            </a:r>
            <a:r>
              <a:rPr lang="en-US" dirty="0"/>
              <a:t> und </a:t>
            </a:r>
            <a:r>
              <a:rPr lang="en-US" dirty="0" err="1"/>
              <a:t>Zusammenhänge</a:t>
            </a:r>
            <a:endParaRPr lang="en-CH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93F25A77-C60D-47FB-D157-C65FA060C367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 anchor="t">
                <a:normAutofit fontScale="92500" lnSpcReduction="20000"/>
              </a:bodyPr>
              <a:lstStyle/>
              <a:p>
                <a:r>
                  <a:rPr lang="en-US" dirty="0"/>
                  <a:t>Bewegung </a:t>
                </a:r>
                <a:r>
                  <a:rPr lang="en-US" dirty="0" err="1"/>
                  <a:t>findet</a:t>
                </a:r>
                <a:r>
                  <a:rPr lang="en-US" dirty="0"/>
                  <a:t> in </a:t>
                </a:r>
                <a:r>
                  <a:rPr lang="en-US" dirty="0" err="1"/>
                  <a:t>einer</a:t>
                </a:r>
                <a:r>
                  <a:rPr lang="en-US" dirty="0"/>
                  <a:t> Dimension </a:t>
                </a:r>
                <a:r>
                  <a:rPr lang="en-US" dirty="0" err="1"/>
                  <a:t>statt</a:t>
                </a:r>
                <a:r>
                  <a:rPr lang="en-US" dirty="0"/>
                  <a:t>.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𝛽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  </m:t>
                    </m:r>
                  </m:oMath>
                </a14:m>
                <a:r>
                  <a:rPr lang="en-US" b="0" dirty="0"/>
                  <a:t> und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ad>
                          <m:radPr>
                            <m:degHide m:val="on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1−</m:t>
                            </m:r>
                            <m:sSup>
                              <m:sSup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  <m:sup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</m:e>
                        </m:rad>
                      </m:den>
                    </m:f>
                  </m:oMath>
                </a14:m>
                <a:endParaRPr lang="en-US" b="0" dirty="0"/>
              </a:p>
              <a:p>
                <a:r>
                  <a:rPr lang="en-US" dirty="0" err="1"/>
                  <a:t>Ruhendes</a:t>
                </a:r>
                <a:r>
                  <a:rPr lang="en-US" dirty="0"/>
                  <a:t> System K und </a:t>
                </a:r>
                <a:r>
                  <a:rPr lang="en-US" dirty="0" err="1"/>
                  <a:t>bewegtes</a:t>
                </a:r>
                <a:r>
                  <a:rPr lang="en-US" dirty="0"/>
                  <a:t> System K’</a:t>
                </a:r>
              </a:p>
              <a:p>
                <a:r>
                  <a:rPr lang="en-US" dirty="0" err="1"/>
                  <a:t>Raumachse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𝑧</m:t>
                    </m:r>
                  </m:oMath>
                </a14:m>
                <a:r>
                  <a:rPr lang="en-US" dirty="0"/>
                  <a:t> und </a:t>
                </a:r>
                <a:r>
                  <a:rPr lang="en-US" dirty="0" err="1"/>
                  <a:t>Zeitachse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b="0" dirty="0"/>
              </a:p>
              <a:p>
                <a:pPr marL="0" indent="0">
                  <a:buNone/>
                </a:pPr>
                <a:endParaRPr lang="en-US" b="0" dirty="0"/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𝑐𝑡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𝛽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b="0" dirty="0"/>
                  <a:t> und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 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𝑐𝑡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′+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𝛽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′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b="0" dirty="0"/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𝛽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𝑐𝑡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b="0" dirty="0"/>
                  <a:t> und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 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′+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𝛽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𝑐𝑡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′)</m:t>
                    </m:r>
                  </m:oMath>
                </a14:m>
                <a:endParaRPr lang="en-US" b="0" dirty="0"/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b="0" dirty="0"/>
                  <a:t> und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endParaRPr lang="en-US" b="0" dirty="0"/>
              </a:p>
              <a:p>
                <a:endParaRPr lang="en-US" dirty="0"/>
              </a:p>
              <a:p>
                <a:r>
                  <a:rPr lang="en-US" b="0" dirty="0"/>
                  <a:t>Zur </a:t>
                </a:r>
                <a:r>
                  <a:rPr lang="en-US" b="0" dirty="0" err="1"/>
                  <a:t>einfachen</a:t>
                </a:r>
                <a:r>
                  <a:rPr lang="en-US" b="0" dirty="0"/>
                  <a:t> </a:t>
                </a:r>
                <a:r>
                  <a:rPr lang="en-US" b="0" dirty="0" err="1"/>
                  <a:t>Rechnung</a:t>
                </a:r>
                <a:r>
                  <a:rPr lang="en-US" b="0" dirty="0"/>
                  <a:t>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b="0" dirty="0"/>
                  <a:t> in Jahren und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𝑧</m:t>
                    </m:r>
                  </m:oMath>
                </a14:m>
                <a:r>
                  <a:rPr lang="en-US" b="0" dirty="0"/>
                  <a:t> in </a:t>
                </a:r>
                <a:r>
                  <a:rPr lang="en-US" b="0" dirty="0" err="1"/>
                  <a:t>Lichtjahren</a:t>
                </a:r>
                <a:endParaRPr lang="en-US" b="0" dirty="0"/>
              </a:p>
            </p:txBody>
          </p:sp>
        </mc:Choice>
        <mc:Fallback xmlns="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93F25A77-C60D-47FB-D157-C65FA060C36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337" t="-1846" r="-562"/>
                </a:stretch>
              </a:blipFill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Content Placeholder 2">
            <a:extLst>
              <a:ext uri="{FF2B5EF4-FFF2-40B4-BE49-F238E27FC236}">
                <a16:creationId xmlns:a16="http://schemas.microsoft.com/office/drawing/2014/main" id="{D0ED1845-5D53-9C2D-C3E7-8D5081335D50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732396" y="1877028"/>
            <a:ext cx="4350935" cy="4350935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FBCD4D-0E53-49A7-A4FC-CB573B8588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A37E33-DCA0-4C7F-A116-3D7ECA99B758}" type="datetime2">
              <a:rPr lang="en-CA" smtClean="0"/>
              <a:t>Friday, March 21, 2025</a:t>
            </a:fld>
            <a:endParaRPr lang="de-D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45080D-CD67-5270-AA72-4A52F3408D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dirty="0"/>
              <a:t>Paul Sander, pasander@ethz.ch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61BE9F-73EB-BF2E-769B-A10162F92A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DE" dirty="0"/>
              <a:t>Einführung</a:t>
            </a:r>
          </a:p>
        </p:txBody>
      </p:sp>
    </p:spTree>
    <p:extLst>
      <p:ext uri="{BB962C8B-B14F-4D97-AF65-F5344CB8AC3E}">
        <p14:creationId xmlns:p14="http://schemas.microsoft.com/office/powerpoint/2010/main" val="98697137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4EFB6D94-F4BB-5913-9AAD-D25FB00F3F4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link="rId2"/>
          <a:srcRect/>
          <a:stretch>
            <a:fillRect/>
          </a:stretch>
        </p:blipFill>
        <p:spPr>
          <a:xfrm>
            <a:off x="439948" y="-422692"/>
            <a:ext cx="7556740" cy="7556740"/>
          </a:xfrm>
        </p:spPr>
      </p:pic>
    </p:spTree>
    <p:extLst>
      <p:ext uri="{BB962C8B-B14F-4D97-AF65-F5344CB8AC3E}">
        <p14:creationId xmlns:p14="http://schemas.microsoft.com/office/powerpoint/2010/main" val="2604399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A75F3D-C067-F07F-01E1-A2C97B7E30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CE63BCCF-9627-37EA-70AE-96BC7FA375B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link="rId2"/>
          <a:srcRect/>
          <a:stretch>
            <a:fillRect/>
          </a:stretch>
        </p:blipFill>
        <p:spPr>
          <a:xfrm>
            <a:off x="439948" y="-422692"/>
            <a:ext cx="7556740" cy="7556740"/>
          </a:xfr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ED3D236-64B7-DD72-3607-2D46387E8454}"/>
                  </a:ext>
                </a:extLst>
              </p:cNvPr>
              <p:cNvSpPr txBox="1"/>
              <p:nvPr/>
            </p:nvSpPr>
            <p:spPr>
              <a:xfrm>
                <a:off x="8547652" y="153348"/>
                <a:ext cx="3475855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chemeClr val="bg1"/>
                    </a:solidFill>
                  </a:rPr>
                  <a:t>Ein </a:t>
                </a:r>
                <a:r>
                  <a:rPr lang="en-US" dirty="0" err="1">
                    <a:solidFill>
                      <a:schemeClr val="bg1"/>
                    </a:solidFill>
                  </a:rPr>
                  <a:t>Ereignis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mit</a:t>
                </a:r>
                <a:r>
                  <a:rPr lang="en-US" dirty="0">
                    <a:solidFill>
                      <a:schemeClr val="bg1"/>
                    </a:solidFill>
                  </a:rPr>
                  <a:t> Ort und </a:t>
                </a:r>
                <a:r>
                  <a:rPr lang="en-US" dirty="0" err="1">
                    <a:solidFill>
                      <a:schemeClr val="bg1"/>
                    </a:solidFill>
                  </a:rPr>
                  <a:t>Zeitpunkt</a:t>
                </a:r>
                <a:r>
                  <a:rPr lang="en-US" dirty="0">
                    <a:solidFill>
                      <a:schemeClr val="bg1"/>
                    </a:solidFill>
                  </a:rPr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𝑐𝑡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=2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ED3D236-64B7-DD72-3607-2D46387E845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47652" y="153348"/>
                <a:ext cx="3475855" cy="923330"/>
              </a:xfrm>
              <a:prstGeom prst="rect">
                <a:avLst/>
              </a:prstGeom>
              <a:blipFill>
                <a:blip r:embed="rId3"/>
                <a:stretch>
                  <a:fillRect l="-1404" t="-3289" r="-1579"/>
                </a:stretch>
              </a:blipFill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417597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3A5333-7ECB-56F6-0F76-15F8C3987D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A9174196-8C4F-894C-F057-BA428C8722D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link="rId2"/>
          <a:srcRect/>
          <a:stretch>
            <a:fillRect/>
          </a:stretch>
        </p:blipFill>
        <p:spPr>
          <a:xfrm>
            <a:off x="439948" y="-422692"/>
            <a:ext cx="7556740" cy="7556740"/>
          </a:xfr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8B96C1A5-E49C-72C7-BF36-EF57C88D10F0}"/>
                  </a:ext>
                </a:extLst>
              </p:cNvPr>
              <p:cNvSpPr txBox="1"/>
              <p:nvPr/>
            </p:nvSpPr>
            <p:spPr>
              <a:xfrm>
                <a:off x="8547652" y="153348"/>
                <a:ext cx="3475855" cy="175432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chemeClr val="bg1"/>
                    </a:solidFill>
                  </a:rPr>
                  <a:t>Ein </a:t>
                </a:r>
                <a:r>
                  <a:rPr lang="en-US" dirty="0" err="1">
                    <a:solidFill>
                      <a:schemeClr val="bg1"/>
                    </a:solidFill>
                  </a:rPr>
                  <a:t>Ereignis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mit</a:t>
                </a:r>
                <a:r>
                  <a:rPr lang="en-US" dirty="0">
                    <a:solidFill>
                      <a:schemeClr val="bg1"/>
                    </a:solidFill>
                  </a:rPr>
                  <a:t> Ort und </a:t>
                </a:r>
                <a:r>
                  <a:rPr lang="en-US" dirty="0" err="1">
                    <a:solidFill>
                      <a:schemeClr val="bg1"/>
                    </a:solidFill>
                  </a:rPr>
                  <a:t>Zeitpunkt</a:t>
                </a:r>
                <a:r>
                  <a:rPr lang="en-US" dirty="0">
                    <a:solidFill>
                      <a:schemeClr val="bg1"/>
                    </a:solidFill>
                  </a:rPr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𝑐𝑡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=2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  <a:p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 err="1">
                    <a:solidFill>
                      <a:schemeClr val="bg1"/>
                    </a:solidFill>
                  </a:rPr>
                  <a:t>Verbindung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zu</a:t>
                </a:r>
                <a:r>
                  <a:rPr lang="en-US" dirty="0">
                    <a:solidFill>
                      <a:schemeClr val="bg1"/>
                    </a:solidFill>
                  </a:rPr>
                  <a:t> den </a:t>
                </a:r>
                <a:r>
                  <a:rPr lang="en-US" dirty="0" err="1">
                    <a:solidFill>
                      <a:schemeClr val="bg1"/>
                    </a:solidFill>
                  </a:rPr>
                  <a:t>Koordinaten</a:t>
                </a:r>
                <a:r>
                  <a:rPr lang="en-US" dirty="0">
                    <a:solidFill>
                      <a:schemeClr val="bg1"/>
                    </a:solidFill>
                  </a:rPr>
                  <a:t>- </a:t>
                </a:r>
                <a:r>
                  <a:rPr lang="en-US" dirty="0" err="1">
                    <a:solidFill>
                      <a:schemeClr val="bg1"/>
                    </a:solidFill>
                  </a:rPr>
                  <a:t>achsen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zum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Ablesen</a:t>
                </a:r>
                <a:r>
                  <a:rPr lang="en-US" dirty="0">
                    <a:solidFill>
                      <a:schemeClr val="bg1"/>
                    </a:solidFill>
                  </a:rPr>
                  <a:t> der </a:t>
                </a:r>
                <a:r>
                  <a:rPr lang="en-US" dirty="0" err="1">
                    <a:solidFill>
                      <a:schemeClr val="bg1"/>
                    </a:solidFill>
                  </a:rPr>
                  <a:t>Werte</a:t>
                </a:r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8B96C1A5-E49C-72C7-BF36-EF57C88D10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47652" y="153348"/>
                <a:ext cx="3475855" cy="1754326"/>
              </a:xfrm>
              <a:prstGeom prst="rect">
                <a:avLst/>
              </a:prstGeom>
              <a:blipFill>
                <a:blip r:embed="rId3"/>
                <a:stretch>
                  <a:fillRect l="-1404" t="-1736" r="-1579" b="-4514"/>
                </a:stretch>
              </a:blipFill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6945310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170449-BA57-C04C-4200-A8CF8F3A7E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01F24675-C23C-43FC-E722-FDAEAC09ADE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link="rId2"/>
          <a:srcRect/>
          <a:stretch>
            <a:fillRect/>
          </a:stretch>
        </p:blipFill>
        <p:spPr>
          <a:xfrm>
            <a:off x="439948" y="-422692"/>
            <a:ext cx="7556740" cy="7556740"/>
          </a:xfr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FF09DD58-4549-B721-780E-3376F8012A63}"/>
                  </a:ext>
                </a:extLst>
              </p:cNvPr>
              <p:cNvSpPr txBox="1"/>
              <p:nvPr/>
            </p:nvSpPr>
            <p:spPr>
              <a:xfrm>
                <a:off x="8547652" y="153348"/>
                <a:ext cx="3475855" cy="258532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chemeClr val="bg1"/>
                    </a:solidFill>
                  </a:rPr>
                  <a:t>Ein </a:t>
                </a:r>
                <a:r>
                  <a:rPr lang="en-US" dirty="0" err="1">
                    <a:solidFill>
                      <a:schemeClr val="bg1"/>
                    </a:solidFill>
                  </a:rPr>
                  <a:t>Ereignis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mit</a:t>
                </a:r>
                <a:r>
                  <a:rPr lang="en-US" dirty="0">
                    <a:solidFill>
                      <a:schemeClr val="bg1"/>
                    </a:solidFill>
                  </a:rPr>
                  <a:t> Ort und </a:t>
                </a:r>
                <a:r>
                  <a:rPr lang="en-US" dirty="0" err="1">
                    <a:solidFill>
                      <a:schemeClr val="bg1"/>
                    </a:solidFill>
                  </a:rPr>
                  <a:t>Zeitpunkt</a:t>
                </a:r>
                <a:r>
                  <a:rPr lang="en-US" dirty="0">
                    <a:solidFill>
                      <a:schemeClr val="bg1"/>
                    </a:solidFill>
                  </a:rPr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𝑐𝑡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=2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  <a:p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 err="1">
                    <a:solidFill>
                      <a:schemeClr val="bg1"/>
                    </a:solidFill>
                  </a:rPr>
                  <a:t>Verbindung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zu</a:t>
                </a:r>
                <a:r>
                  <a:rPr lang="en-US" dirty="0">
                    <a:solidFill>
                      <a:schemeClr val="bg1"/>
                    </a:solidFill>
                  </a:rPr>
                  <a:t> den </a:t>
                </a:r>
                <a:r>
                  <a:rPr lang="en-US" dirty="0" err="1">
                    <a:solidFill>
                      <a:schemeClr val="bg1"/>
                    </a:solidFill>
                  </a:rPr>
                  <a:t>Koordinaten</a:t>
                </a:r>
                <a:r>
                  <a:rPr lang="en-US" dirty="0">
                    <a:solidFill>
                      <a:schemeClr val="bg1"/>
                    </a:solidFill>
                  </a:rPr>
                  <a:t>- </a:t>
                </a:r>
                <a:r>
                  <a:rPr lang="en-US" dirty="0" err="1">
                    <a:solidFill>
                      <a:schemeClr val="bg1"/>
                    </a:solidFill>
                  </a:rPr>
                  <a:t>achsen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zum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Ablesen</a:t>
                </a:r>
                <a:r>
                  <a:rPr lang="en-US" dirty="0">
                    <a:solidFill>
                      <a:schemeClr val="bg1"/>
                    </a:solidFill>
                  </a:rPr>
                  <a:t> der </a:t>
                </a:r>
                <a:r>
                  <a:rPr lang="en-US" dirty="0" err="1">
                    <a:solidFill>
                      <a:schemeClr val="bg1"/>
                    </a:solidFill>
                  </a:rPr>
                  <a:t>Werte</a:t>
                </a:r>
                <a:endParaRPr lang="en-US" dirty="0">
                  <a:solidFill>
                    <a:schemeClr val="bg1"/>
                  </a:solidFill>
                </a:endParaRPr>
              </a:p>
              <a:p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 err="1">
                    <a:solidFill>
                      <a:schemeClr val="bg1"/>
                    </a:solidFill>
                  </a:rPr>
                  <a:t>Messung</a:t>
                </a:r>
                <a:r>
                  <a:rPr lang="en-US" dirty="0">
                    <a:solidFill>
                      <a:schemeClr val="bg1"/>
                    </a:solidFill>
                  </a:rPr>
                  <a:t> der </a:t>
                </a:r>
                <a:r>
                  <a:rPr lang="en-US" dirty="0" err="1">
                    <a:solidFill>
                      <a:schemeClr val="bg1"/>
                    </a:solidFill>
                  </a:rPr>
                  <a:t>Entfernung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zum</a:t>
                </a:r>
                <a:r>
                  <a:rPr lang="en-US" dirty="0">
                    <a:solidFill>
                      <a:schemeClr val="bg1"/>
                    </a:solidFill>
                  </a:rPr>
                  <a:t> Ursprung</a:t>
                </a:r>
                <a:endParaRPr lang="en-CH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FF09DD58-4549-B721-780E-3376F8012A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47652" y="153348"/>
                <a:ext cx="3475855" cy="2585323"/>
              </a:xfrm>
              <a:prstGeom prst="rect">
                <a:avLst/>
              </a:prstGeom>
              <a:blipFill>
                <a:blip r:embed="rId3"/>
                <a:stretch>
                  <a:fillRect l="-1404" t="-1179" r="-1579" b="-2830"/>
                </a:stretch>
              </a:blipFill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3236357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9DD356-1BF7-6339-338C-0A37424EF9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B5E22809-61F3-49DF-63AD-BA3E474190E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link="rId2"/>
          <a:srcRect/>
          <a:stretch>
            <a:fillRect/>
          </a:stretch>
        </p:blipFill>
        <p:spPr>
          <a:xfrm>
            <a:off x="439948" y="-422692"/>
            <a:ext cx="7556740" cy="7556740"/>
          </a:xfr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5FED4D48-83D0-818A-2834-82022D5597FD}"/>
                  </a:ext>
                </a:extLst>
              </p:cNvPr>
              <p:cNvSpPr txBox="1"/>
              <p:nvPr/>
            </p:nvSpPr>
            <p:spPr>
              <a:xfrm>
                <a:off x="8547652" y="153348"/>
                <a:ext cx="3475855" cy="230832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chemeClr val="bg1"/>
                    </a:solidFill>
                  </a:rPr>
                  <a:t>Ein </a:t>
                </a:r>
                <a:r>
                  <a:rPr lang="en-US" dirty="0" err="1">
                    <a:solidFill>
                      <a:schemeClr val="bg1"/>
                    </a:solidFill>
                  </a:rPr>
                  <a:t>Ereignis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mit</a:t>
                </a:r>
                <a:r>
                  <a:rPr lang="en-US" dirty="0">
                    <a:solidFill>
                      <a:schemeClr val="bg1"/>
                    </a:solidFill>
                  </a:rPr>
                  <a:t> Ort und </a:t>
                </a:r>
                <a:r>
                  <a:rPr lang="en-US" dirty="0" err="1">
                    <a:solidFill>
                      <a:schemeClr val="bg1"/>
                    </a:solidFill>
                  </a:rPr>
                  <a:t>Zeitpunkt</a:t>
                </a:r>
                <a:r>
                  <a:rPr lang="en-US" dirty="0">
                    <a:solidFill>
                      <a:schemeClr val="bg1"/>
                    </a:solidFill>
                  </a:rPr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𝑐𝑡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=2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  <a:p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Ein </a:t>
                </a:r>
                <a:r>
                  <a:rPr lang="en-US" dirty="0" err="1">
                    <a:solidFill>
                      <a:schemeClr val="bg1"/>
                    </a:solidFill>
                  </a:rPr>
                  <a:t>zweites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Ereignis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mit</a:t>
                </a:r>
                <a:r>
                  <a:rPr lang="en-US" dirty="0">
                    <a:solidFill>
                      <a:schemeClr val="bg1"/>
                    </a:solidFill>
                  </a:rPr>
                  <a:t> Ort und </a:t>
                </a:r>
                <a:r>
                  <a:rPr lang="en-US" dirty="0" err="1">
                    <a:solidFill>
                      <a:schemeClr val="bg1"/>
                    </a:solidFill>
                  </a:rPr>
                  <a:t>Zeitpunkt</a:t>
                </a:r>
                <a:r>
                  <a:rPr lang="en-US" dirty="0">
                    <a:solidFill>
                      <a:schemeClr val="bg1"/>
                    </a:solidFill>
                  </a:rPr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=3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𝑐𝑡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5FED4D48-83D0-818A-2834-82022D5597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47652" y="153348"/>
                <a:ext cx="3475855" cy="2308324"/>
              </a:xfrm>
              <a:prstGeom prst="rect">
                <a:avLst/>
              </a:prstGeom>
              <a:blipFill>
                <a:blip r:embed="rId3"/>
                <a:stretch>
                  <a:fillRect l="-1404" t="-1319" r="-1579"/>
                </a:stretch>
              </a:blipFill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636267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4B5F2A-4598-BB3E-F832-5E1EF14900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03C497DA-A97E-1FB4-1C1A-E966587F5C2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link="rId2"/>
          <a:srcRect/>
          <a:stretch>
            <a:fillRect/>
          </a:stretch>
        </p:blipFill>
        <p:spPr>
          <a:xfrm>
            <a:off x="439948" y="-422692"/>
            <a:ext cx="7556740" cy="7556740"/>
          </a:xfr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215530AD-852A-3E96-F08B-0447C1A92344}"/>
                  </a:ext>
                </a:extLst>
              </p:cNvPr>
              <p:cNvSpPr txBox="1"/>
              <p:nvPr/>
            </p:nvSpPr>
            <p:spPr>
              <a:xfrm>
                <a:off x="8547652" y="153348"/>
                <a:ext cx="3475855" cy="31393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chemeClr val="bg1"/>
                    </a:solidFill>
                  </a:rPr>
                  <a:t>Ein </a:t>
                </a:r>
                <a:r>
                  <a:rPr lang="en-US" dirty="0" err="1">
                    <a:solidFill>
                      <a:schemeClr val="bg1"/>
                    </a:solidFill>
                  </a:rPr>
                  <a:t>Ereignis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mit</a:t>
                </a:r>
                <a:r>
                  <a:rPr lang="en-US" dirty="0">
                    <a:solidFill>
                      <a:schemeClr val="bg1"/>
                    </a:solidFill>
                  </a:rPr>
                  <a:t> Ort und </a:t>
                </a:r>
                <a:r>
                  <a:rPr lang="en-US" dirty="0" err="1">
                    <a:solidFill>
                      <a:schemeClr val="bg1"/>
                    </a:solidFill>
                  </a:rPr>
                  <a:t>Zeitpunkt</a:t>
                </a:r>
                <a:r>
                  <a:rPr lang="en-US" dirty="0">
                    <a:solidFill>
                      <a:schemeClr val="bg1"/>
                    </a:solidFill>
                  </a:rPr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𝑐𝑡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=2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  <a:p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Ein </a:t>
                </a:r>
                <a:r>
                  <a:rPr lang="en-US" dirty="0" err="1">
                    <a:solidFill>
                      <a:schemeClr val="bg1"/>
                    </a:solidFill>
                  </a:rPr>
                  <a:t>zweites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Ereignis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mit</a:t>
                </a:r>
                <a:r>
                  <a:rPr lang="en-US" dirty="0">
                    <a:solidFill>
                      <a:schemeClr val="bg1"/>
                    </a:solidFill>
                  </a:rPr>
                  <a:t> Ort und </a:t>
                </a:r>
                <a:r>
                  <a:rPr lang="en-US" dirty="0" err="1">
                    <a:solidFill>
                      <a:schemeClr val="bg1"/>
                    </a:solidFill>
                  </a:rPr>
                  <a:t>Zeitpunkt</a:t>
                </a:r>
                <a:r>
                  <a:rPr lang="en-US" dirty="0">
                    <a:solidFill>
                      <a:schemeClr val="bg1"/>
                    </a:solidFill>
                  </a:rPr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=3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𝑐𝑡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  <a:p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 err="1">
                    <a:solidFill>
                      <a:schemeClr val="bg1"/>
                    </a:solidFill>
                  </a:rPr>
                  <a:t>Verbindung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zu</a:t>
                </a:r>
                <a:r>
                  <a:rPr lang="en-US" dirty="0">
                    <a:solidFill>
                      <a:schemeClr val="bg1"/>
                    </a:solidFill>
                  </a:rPr>
                  <a:t> den </a:t>
                </a:r>
                <a:r>
                  <a:rPr lang="en-US" dirty="0" err="1">
                    <a:solidFill>
                      <a:schemeClr val="bg1"/>
                    </a:solidFill>
                  </a:rPr>
                  <a:t>Koordinaten</a:t>
                </a:r>
                <a:r>
                  <a:rPr lang="en-US" dirty="0">
                    <a:solidFill>
                      <a:schemeClr val="bg1"/>
                    </a:solidFill>
                  </a:rPr>
                  <a:t>- </a:t>
                </a:r>
                <a:r>
                  <a:rPr lang="en-US" dirty="0" err="1">
                    <a:solidFill>
                      <a:schemeClr val="bg1"/>
                    </a:solidFill>
                  </a:rPr>
                  <a:t>achsen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zum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Ablesen</a:t>
                </a:r>
                <a:r>
                  <a:rPr lang="en-US" dirty="0">
                    <a:solidFill>
                      <a:schemeClr val="bg1"/>
                    </a:solidFill>
                  </a:rPr>
                  <a:t> der </a:t>
                </a:r>
                <a:r>
                  <a:rPr lang="en-US" dirty="0" err="1">
                    <a:solidFill>
                      <a:schemeClr val="bg1"/>
                    </a:solidFill>
                  </a:rPr>
                  <a:t>Werte</a:t>
                </a:r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215530AD-852A-3E96-F08B-0447C1A923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47652" y="153348"/>
                <a:ext cx="3475855" cy="3139321"/>
              </a:xfrm>
              <a:prstGeom prst="rect">
                <a:avLst/>
              </a:prstGeom>
              <a:blipFill>
                <a:blip r:embed="rId3"/>
                <a:stretch>
                  <a:fillRect l="-1404" t="-971" r="-1579" b="-2136"/>
                </a:stretch>
              </a:blipFill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54441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9D5E28-A2BD-0C6C-6D8D-693811EDA5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00BCF266-429B-A1E0-E8F1-D360C0B9EFF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link="rId3"/>
          <a:srcRect/>
          <a:stretch>
            <a:fillRect/>
          </a:stretch>
        </p:blipFill>
        <p:spPr>
          <a:xfrm>
            <a:off x="439948" y="-422692"/>
            <a:ext cx="7556740" cy="7556740"/>
          </a:xfr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4CB2127-D4B9-C919-AEA8-8CC161F4B1C2}"/>
                  </a:ext>
                </a:extLst>
              </p:cNvPr>
              <p:cNvSpPr txBox="1"/>
              <p:nvPr/>
            </p:nvSpPr>
            <p:spPr>
              <a:xfrm>
                <a:off x="8547652" y="153348"/>
                <a:ext cx="3475855" cy="397031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chemeClr val="bg1"/>
                    </a:solidFill>
                  </a:rPr>
                  <a:t>Ein </a:t>
                </a:r>
                <a:r>
                  <a:rPr lang="en-US" dirty="0" err="1">
                    <a:solidFill>
                      <a:schemeClr val="bg1"/>
                    </a:solidFill>
                  </a:rPr>
                  <a:t>Ereignis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mit</a:t>
                </a:r>
                <a:r>
                  <a:rPr lang="en-US" dirty="0">
                    <a:solidFill>
                      <a:schemeClr val="bg1"/>
                    </a:solidFill>
                  </a:rPr>
                  <a:t> Ort und </a:t>
                </a:r>
                <a:r>
                  <a:rPr lang="en-US" dirty="0" err="1">
                    <a:solidFill>
                      <a:schemeClr val="bg1"/>
                    </a:solidFill>
                  </a:rPr>
                  <a:t>Zeitpunkt</a:t>
                </a:r>
                <a:r>
                  <a:rPr lang="en-US" dirty="0">
                    <a:solidFill>
                      <a:schemeClr val="bg1"/>
                    </a:solidFill>
                  </a:rPr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𝑐𝑡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=2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  <a:p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Ein </a:t>
                </a:r>
                <a:r>
                  <a:rPr lang="en-US" dirty="0" err="1">
                    <a:solidFill>
                      <a:schemeClr val="bg1"/>
                    </a:solidFill>
                  </a:rPr>
                  <a:t>zweites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Ereignis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mit</a:t>
                </a:r>
                <a:r>
                  <a:rPr lang="en-US" dirty="0">
                    <a:solidFill>
                      <a:schemeClr val="bg1"/>
                    </a:solidFill>
                  </a:rPr>
                  <a:t> Ort und </a:t>
                </a:r>
                <a:r>
                  <a:rPr lang="en-US" dirty="0" err="1">
                    <a:solidFill>
                      <a:schemeClr val="bg1"/>
                    </a:solidFill>
                  </a:rPr>
                  <a:t>Zeitpunkt</a:t>
                </a:r>
                <a:r>
                  <a:rPr lang="en-US" dirty="0">
                    <a:solidFill>
                      <a:schemeClr val="bg1"/>
                    </a:solidFill>
                  </a:rPr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=3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𝑐𝑡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  <a:p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 err="1">
                    <a:solidFill>
                      <a:schemeClr val="bg1"/>
                    </a:solidFill>
                  </a:rPr>
                  <a:t>Verbindung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zu</a:t>
                </a:r>
                <a:r>
                  <a:rPr lang="en-US" dirty="0">
                    <a:solidFill>
                      <a:schemeClr val="bg1"/>
                    </a:solidFill>
                  </a:rPr>
                  <a:t> den </a:t>
                </a:r>
                <a:r>
                  <a:rPr lang="en-US" dirty="0" err="1">
                    <a:solidFill>
                      <a:schemeClr val="bg1"/>
                    </a:solidFill>
                  </a:rPr>
                  <a:t>Koordinaten</a:t>
                </a:r>
                <a:r>
                  <a:rPr lang="en-US" dirty="0">
                    <a:solidFill>
                      <a:schemeClr val="bg1"/>
                    </a:solidFill>
                  </a:rPr>
                  <a:t>- </a:t>
                </a:r>
                <a:r>
                  <a:rPr lang="en-US" dirty="0" err="1">
                    <a:solidFill>
                      <a:schemeClr val="bg1"/>
                    </a:solidFill>
                  </a:rPr>
                  <a:t>achsen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zum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Ablesen</a:t>
                </a:r>
                <a:r>
                  <a:rPr lang="en-US" dirty="0">
                    <a:solidFill>
                      <a:schemeClr val="bg1"/>
                    </a:solidFill>
                  </a:rPr>
                  <a:t> der </a:t>
                </a:r>
                <a:r>
                  <a:rPr lang="en-US" dirty="0" err="1">
                    <a:solidFill>
                      <a:schemeClr val="bg1"/>
                    </a:solidFill>
                  </a:rPr>
                  <a:t>Werte</a:t>
                </a:r>
                <a:endParaRPr lang="en-US" dirty="0">
                  <a:solidFill>
                    <a:schemeClr val="bg1"/>
                  </a:solidFill>
                </a:endParaRPr>
              </a:p>
              <a:p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 err="1">
                    <a:solidFill>
                      <a:schemeClr val="bg1"/>
                    </a:solidFill>
                  </a:rPr>
                  <a:t>Messung</a:t>
                </a:r>
                <a:r>
                  <a:rPr lang="en-US" dirty="0">
                    <a:solidFill>
                      <a:schemeClr val="bg1"/>
                    </a:solidFill>
                  </a:rPr>
                  <a:t> der </a:t>
                </a:r>
                <a:r>
                  <a:rPr lang="en-US" dirty="0" err="1">
                    <a:solidFill>
                      <a:schemeClr val="bg1"/>
                    </a:solidFill>
                  </a:rPr>
                  <a:t>Entfernung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zum</a:t>
                </a:r>
                <a:r>
                  <a:rPr lang="en-US" dirty="0">
                    <a:solidFill>
                      <a:schemeClr val="bg1"/>
                    </a:solidFill>
                  </a:rPr>
                  <a:t> Ursprung</a:t>
                </a:r>
                <a:endParaRPr lang="en-CH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4CB2127-D4B9-C919-AEA8-8CC161F4B1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47652" y="153348"/>
                <a:ext cx="3475855" cy="3970318"/>
              </a:xfrm>
              <a:prstGeom prst="rect">
                <a:avLst/>
              </a:prstGeom>
              <a:blipFill>
                <a:blip r:embed="rId4"/>
                <a:stretch>
                  <a:fillRect l="-1404" t="-768" r="-1579" b="-1536"/>
                </a:stretch>
              </a:blipFill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9739137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5521B2-7518-272D-FB11-E79E8F05E8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8A0A396A-57DD-4EA9-022B-B215474FBE4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link="rId2"/>
          <a:srcRect/>
          <a:stretch>
            <a:fillRect/>
          </a:stretch>
        </p:blipFill>
        <p:spPr>
          <a:xfrm>
            <a:off x="439948" y="-422692"/>
            <a:ext cx="7556740" cy="7556740"/>
          </a:xfr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44D530D4-85C6-CB00-571B-EEBFF6C565CB}"/>
                  </a:ext>
                </a:extLst>
              </p:cNvPr>
              <p:cNvSpPr txBox="1"/>
              <p:nvPr/>
            </p:nvSpPr>
            <p:spPr>
              <a:xfrm>
                <a:off x="8547652" y="153348"/>
                <a:ext cx="3475855" cy="31393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chemeClr val="bg1"/>
                    </a:solidFill>
                  </a:rPr>
                  <a:t>Ein </a:t>
                </a:r>
                <a:r>
                  <a:rPr lang="en-US" dirty="0" err="1">
                    <a:solidFill>
                      <a:schemeClr val="bg1"/>
                    </a:solidFill>
                  </a:rPr>
                  <a:t>Ereignis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mit</a:t>
                </a:r>
                <a:r>
                  <a:rPr lang="en-US" dirty="0">
                    <a:solidFill>
                      <a:schemeClr val="bg1"/>
                    </a:solidFill>
                  </a:rPr>
                  <a:t> Ort und </a:t>
                </a:r>
                <a:r>
                  <a:rPr lang="en-US" dirty="0" err="1">
                    <a:solidFill>
                      <a:schemeClr val="bg1"/>
                    </a:solidFill>
                  </a:rPr>
                  <a:t>Zeitpunkt</a:t>
                </a:r>
                <a:r>
                  <a:rPr lang="en-US" dirty="0">
                    <a:solidFill>
                      <a:schemeClr val="bg1"/>
                    </a:solidFill>
                  </a:rPr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𝑐𝑡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=2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  <a:p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Ein </a:t>
                </a:r>
                <a:r>
                  <a:rPr lang="en-US" dirty="0" err="1">
                    <a:solidFill>
                      <a:schemeClr val="bg1"/>
                    </a:solidFill>
                  </a:rPr>
                  <a:t>zweites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Ereignis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mit</a:t>
                </a:r>
                <a:r>
                  <a:rPr lang="en-US" dirty="0">
                    <a:solidFill>
                      <a:schemeClr val="bg1"/>
                    </a:solidFill>
                  </a:rPr>
                  <a:t> Ort und </a:t>
                </a:r>
                <a:r>
                  <a:rPr lang="en-US" dirty="0" err="1">
                    <a:solidFill>
                      <a:schemeClr val="bg1"/>
                    </a:solidFill>
                  </a:rPr>
                  <a:t>Zeitpunkt</a:t>
                </a:r>
                <a:r>
                  <a:rPr lang="en-US" dirty="0">
                    <a:solidFill>
                      <a:schemeClr val="bg1"/>
                    </a:solidFill>
                  </a:rPr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=3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𝑐𝑡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  <a:p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 err="1">
                    <a:solidFill>
                      <a:schemeClr val="bg1"/>
                    </a:solidFill>
                  </a:rPr>
                  <a:t>Abstand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zwischen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zwei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Punkten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entspricht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nicht</a:t>
                </a:r>
                <a:r>
                  <a:rPr lang="en-US" dirty="0">
                    <a:solidFill>
                      <a:schemeClr val="bg1"/>
                    </a:solidFill>
                  </a:rPr>
                  <a:t> der </a:t>
                </a:r>
                <a:r>
                  <a:rPr lang="en-US" dirty="0" err="1">
                    <a:solidFill>
                      <a:schemeClr val="bg1"/>
                    </a:solidFill>
                  </a:rPr>
                  <a:t>direkten</a:t>
                </a:r>
                <a:r>
                  <a:rPr lang="en-US" dirty="0">
                    <a:solidFill>
                      <a:schemeClr val="bg1"/>
                    </a:solidFill>
                  </a:rPr>
                  <a:t> Linie</a:t>
                </a: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44D530D4-85C6-CB00-571B-EEBFF6C565C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47652" y="153348"/>
                <a:ext cx="3475855" cy="3139321"/>
              </a:xfrm>
              <a:prstGeom prst="rect">
                <a:avLst/>
              </a:prstGeom>
              <a:blipFill>
                <a:blip r:embed="rId3"/>
                <a:stretch>
                  <a:fillRect l="-1404" t="-971" r="-1579" b="-2136"/>
                </a:stretch>
              </a:blipFill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9444047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FEFF49-0D6E-2E4F-4A70-5C537334C2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5CCCCA1-C522-ED31-7590-3FC773EEAF07}"/>
                  </a:ext>
                </a:extLst>
              </p:cNvPr>
              <p:cNvSpPr txBox="1"/>
              <p:nvPr/>
            </p:nvSpPr>
            <p:spPr>
              <a:xfrm>
                <a:off x="8547652" y="153348"/>
                <a:ext cx="3475855" cy="45243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chemeClr val="bg1"/>
                    </a:solidFill>
                  </a:rPr>
                  <a:t>Ein </a:t>
                </a:r>
                <a:r>
                  <a:rPr lang="en-US" dirty="0" err="1">
                    <a:solidFill>
                      <a:schemeClr val="bg1"/>
                    </a:solidFill>
                  </a:rPr>
                  <a:t>Ereignis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mit</a:t>
                </a:r>
                <a:r>
                  <a:rPr lang="en-US" dirty="0">
                    <a:solidFill>
                      <a:schemeClr val="bg1"/>
                    </a:solidFill>
                  </a:rPr>
                  <a:t> Ort und </a:t>
                </a:r>
                <a:r>
                  <a:rPr lang="en-US" dirty="0" err="1">
                    <a:solidFill>
                      <a:schemeClr val="bg1"/>
                    </a:solidFill>
                  </a:rPr>
                  <a:t>Zeitpunkt</a:t>
                </a:r>
                <a:r>
                  <a:rPr lang="en-US" dirty="0">
                    <a:solidFill>
                      <a:schemeClr val="bg1"/>
                    </a:solidFill>
                  </a:rPr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𝑐𝑡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=2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  <a:p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Ein </a:t>
                </a:r>
                <a:r>
                  <a:rPr lang="en-US" dirty="0" err="1">
                    <a:solidFill>
                      <a:schemeClr val="bg1"/>
                    </a:solidFill>
                  </a:rPr>
                  <a:t>zweites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Ereignis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mit</a:t>
                </a:r>
                <a:r>
                  <a:rPr lang="en-US" dirty="0">
                    <a:solidFill>
                      <a:schemeClr val="bg1"/>
                    </a:solidFill>
                  </a:rPr>
                  <a:t> Ort und </a:t>
                </a:r>
                <a:r>
                  <a:rPr lang="en-US" dirty="0" err="1">
                    <a:solidFill>
                      <a:schemeClr val="bg1"/>
                    </a:solidFill>
                  </a:rPr>
                  <a:t>Zeitpunkt</a:t>
                </a:r>
                <a:r>
                  <a:rPr lang="en-US" dirty="0">
                    <a:solidFill>
                      <a:schemeClr val="bg1"/>
                    </a:solidFill>
                  </a:rPr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=3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𝑐𝑡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  <a:p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 err="1">
                    <a:solidFill>
                      <a:schemeClr val="bg1"/>
                    </a:solidFill>
                  </a:rPr>
                  <a:t>Abstand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zwischen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zwei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Punkten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entspricht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nicht</a:t>
                </a:r>
                <a:r>
                  <a:rPr lang="en-US" dirty="0">
                    <a:solidFill>
                      <a:schemeClr val="bg1"/>
                    </a:solidFill>
                  </a:rPr>
                  <a:t> der </a:t>
                </a:r>
                <a:r>
                  <a:rPr lang="en-US" dirty="0" err="1">
                    <a:solidFill>
                      <a:schemeClr val="bg1"/>
                    </a:solidFill>
                  </a:rPr>
                  <a:t>direkten</a:t>
                </a:r>
                <a:r>
                  <a:rPr lang="en-US" dirty="0">
                    <a:solidFill>
                      <a:schemeClr val="bg1"/>
                    </a:solidFill>
                  </a:rPr>
                  <a:t> Linie, </a:t>
                </a:r>
                <a:r>
                  <a:rPr lang="en-US" dirty="0" err="1">
                    <a:solidFill>
                      <a:schemeClr val="bg1"/>
                    </a:solidFill>
                  </a:rPr>
                  <a:t>sondern</a:t>
                </a:r>
                <a:r>
                  <a:rPr lang="en-US" dirty="0">
                    <a:solidFill>
                      <a:schemeClr val="bg1"/>
                    </a:solidFill>
                  </a:rPr>
                  <a:t> dem </a:t>
                </a:r>
                <a:r>
                  <a:rPr lang="en-US" dirty="0" err="1">
                    <a:solidFill>
                      <a:schemeClr val="bg1"/>
                    </a:solidFill>
                  </a:rPr>
                  <a:t>Abstand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entlang</a:t>
                </a:r>
                <a:r>
                  <a:rPr lang="en-US" dirty="0">
                    <a:solidFill>
                      <a:schemeClr val="bg1"/>
                    </a:solidFill>
                  </a:rPr>
                  <a:t> der </a:t>
                </a:r>
                <a:r>
                  <a:rPr lang="en-US" dirty="0" err="1">
                    <a:solidFill>
                      <a:schemeClr val="bg1"/>
                    </a:solidFill>
                  </a:rPr>
                  <a:t>Koordinatenachsen</a:t>
                </a:r>
                <a:endParaRPr lang="en-US" dirty="0">
                  <a:solidFill>
                    <a:schemeClr val="bg1"/>
                  </a:solidFill>
                </a:endParaRPr>
              </a:p>
              <a:p>
                <a:endParaRPr lang="en-US" dirty="0">
                  <a:solidFill>
                    <a:schemeClr val="bg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 </m:t>
                      </m:r>
                      <m:r>
                        <m:rPr>
                          <m:sty m:val="p"/>
                        </m:rPr>
                        <a:rPr lang="en-US" b="0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Δ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=2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b="0" dirty="0">
                    <a:solidFill>
                      <a:schemeClr val="bg1"/>
                    </a:solidFill>
                  </a:rPr>
                  <a:t>c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Δ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5CCCCA1-C522-ED31-7590-3FC773EEAF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47652" y="153348"/>
                <a:ext cx="3475855" cy="4524315"/>
              </a:xfrm>
              <a:prstGeom prst="rect">
                <a:avLst/>
              </a:prstGeom>
              <a:blipFill>
                <a:blip r:embed="rId2"/>
                <a:stretch>
                  <a:fillRect l="-1404" t="-674" r="-1579" b="-1213"/>
                </a:stretch>
              </a:blipFill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BC1CF25B-4FDE-8199-8F07-6D5258AD803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link="rId3"/>
          <a:srcRect/>
          <a:stretch>
            <a:fillRect/>
          </a:stretch>
        </p:blipFill>
        <p:spPr>
          <a:xfrm>
            <a:off x="439948" y="-422692"/>
            <a:ext cx="7556740" cy="7556740"/>
          </a:xfrm>
        </p:spPr>
      </p:pic>
    </p:spTree>
    <p:extLst>
      <p:ext uri="{BB962C8B-B14F-4D97-AF65-F5344CB8AC3E}">
        <p14:creationId xmlns:p14="http://schemas.microsoft.com/office/powerpoint/2010/main" val="363829719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433A00-2C99-2075-FCE1-683B869DA7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54F5FABB-B0FA-DCB2-041A-419C82B2093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link="rId2"/>
          <a:srcRect/>
          <a:stretch>
            <a:fillRect/>
          </a:stretch>
        </p:blipFill>
        <p:spPr>
          <a:xfrm>
            <a:off x="439948" y="-422692"/>
            <a:ext cx="7556740" cy="7556740"/>
          </a:xfr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94B87BA9-FAF2-990C-39C3-DA932358E7F1}"/>
                  </a:ext>
                </a:extLst>
              </p:cNvPr>
              <p:cNvSpPr txBox="1"/>
              <p:nvPr/>
            </p:nvSpPr>
            <p:spPr>
              <a:xfrm>
                <a:off x="8547652" y="153348"/>
                <a:ext cx="3475855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chemeClr val="bg1"/>
                    </a:solidFill>
                  </a:rPr>
                  <a:t>Bei Licht gilt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Δ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en-US" dirty="0">
                        <a:solidFill>
                          <a:schemeClr val="bg1"/>
                        </a:solidFill>
                      </a:rPr>
                      <m:t>c</m:t>
                    </m:r>
                    <m:r>
                      <m:rPr>
                        <m:sty m:val="p"/>
                      </m:rPr>
                      <a:rPr lang="en-US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Δ</m:t>
                    </m:r>
                    <m:r>
                      <a:rPr lang="en-US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dirty="0">
                  <a:solidFill>
                    <a:schemeClr val="bg1"/>
                  </a:solidFill>
                </a:endParaRPr>
              </a:p>
              <a:p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 err="1">
                    <a:solidFill>
                      <a:schemeClr val="bg1"/>
                    </a:solidFill>
                  </a:rPr>
                  <a:t>Dadurch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entstehen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Diagonalen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im</a:t>
                </a:r>
                <a:r>
                  <a:rPr lang="en-US" dirty="0">
                    <a:solidFill>
                      <a:schemeClr val="bg1"/>
                    </a:solidFill>
                  </a:rPr>
                  <a:t> Minkowski-</a:t>
                </a:r>
                <a:r>
                  <a:rPr lang="en-US" dirty="0" err="1">
                    <a:solidFill>
                      <a:schemeClr val="bg1"/>
                    </a:solidFill>
                  </a:rPr>
                  <a:t>Diagramm</a:t>
                </a:r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94B87BA9-FAF2-990C-39C3-DA932358E7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47652" y="153348"/>
                <a:ext cx="3475855" cy="1200329"/>
              </a:xfrm>
              <a:prstGeom prst="rect">
                <a:avLst/>
              </a:prstGeom>
              <a:blipFill>
                <a:blip r:embed="rId3"/>
                <a:stretch>
                  <a:fillRect l="-1404" t="-2538" b="-7107"/>
                </a:stretch>
              </a:blipFill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0688927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AF8EDC-C61C-B4DE-F823-5F8AB0BEFD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50E54EA0-3A4A-39F2-4AF6-663D0C2648C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link="rId2"/>
          <a:srcRect/>
          <a:stretch>
            <a:fillRect/>
          </a:stretch>
        </p:blipFill>
        <p:spPr>
          <a:xfrm>
            <a:off x="439948" y="-422692"/>
            <a:ext cx="7556740" cy="7556740"/>
          </a:xfr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CD40440C-0188-F5D7-BA2B-6C65310FA518}"/>
                  </a:ext>
                </a:extLst>
              </p:cNvPr>
              <p:cNvSpPr txBox="1"/>
              <p:nvPr/>
            </p:nvSpPr>
            <p:spPr>
              <a:xfrm>
                <a:off x="8547652" y="153348"/>
                <a:ext cx="3475855" cy="230832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chemeClr val="bg1"/>
                    </a:solidFill>
                  </a:rPr>
                  <a:t>Bei Licht gilt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Δ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en-US" dirty="0">
                        <a:solidFill>
                          <a:schemeClr val="bg1"/>
                        </a:solidFill>
                      </a:rPr>
                      <m:t>c</m:t>
                    </m:r>
                    <m:r>
                      <m:rPr>
                        <m:sty m:val="p"/>
                      </m:rPr>
                      <a:rPr lang="en-US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Δ</m:t>
                    </m:r>
                    <m:r>
                      <a:rPr lang="en-US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dirty="0">
                  <a:solidFill>
                    <a:schemeClr val="bg1"/>
                  </a:solidFill>
                </a:endParaRPr>
              </a:p>
              <a:p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 err="1">
                    <a:solidFill>
                      <a:schemeClr val="bg1"/>
                    </a:solidFill>
                  </a:rPr>
                  <a:t>Dadurch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entstehen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Diagonalen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im</a:t>
                </a:r>
                <a:r>
                  <a:rPr lang="en-US" dirty="0">
                    <a:solidFill>
                      <a:schemeClr val="bg1"/>
                    </a:solidFill>
                  </a:rPr>
                  <a:t> Minkowski-</a:t>
                </a:r>
                <a:r>
                  <a:rPr lang="en-US" dirty="0" err="1">
                    <a:solidFill>
                      <a:schemeClr val="bg1"/>
                    </a:solidFill>
                  </a:rPr>
                  <a:t>Diagramm</a:t>
                </a:r>
                <a:endParaRPr lang="en-US" dirty="0">
                  <a:solidFill>
                    <a:schemeClr val="bg1"/>
                  </a:solidFill>
                </a:endParaRPr>
              </a:p>
              <a:p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Wir </a:t>
                </a:r>
                <a:r>
                  <a:rPr lang="en-US" dirty="0" err="1">
                    <a:solidFill>
                      <a:schemeClr val="bg1"/>
                    </a:solidFill>
                  </a:rPr>
                  <a:t>können</a:t>
                </a:r>
                <a:r>
                  <a:rPr lang="en-US" dirty="0">
                    <a:solidFill>
                      <a:schemeClr val="bg1"/>
                    </a:solidFill>
                  </a:rPr>
                  <a:t> in </a:t>
                </a:r>
                <a:r>
                  <a:rPr lang="en-US" dirty="0" err="1">
                    <a:solidFill>
                      <a:schemeClr val="bg1"/>
                    </a:solidFill>
                  </a:rPr>
                  <a:t>zeitartige</a:t>
                </a:r>
                <a:r>
                  <a:rPr lang="en-US" dirty="0">
                    <a:solidFill>
                      <a:schemeClr val="bg1"/>
                    </a:solidFill>
                  </a:rPr>
                  <a:t> und </a:t>
                </a:r>
                <a:r>
                  <a:rPr lang="en-US" dirty="0" err="1">
                    <a:solidFill>
                      <a:schemeClr val="bg1"/>
                    </a:solidFill>
                  </a:rPr>
                  <a:t>raumsartige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Vektoren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unterteilen</a:t>
                </a:r>
                <a:r>
                  <a:rPr lang="en-US" dirty="0">
                    <a:solidFill>
                      <a:schemeClr val="bg1"/>
                    </a:solidFill>
                  </a:rPr>
                  <a:t>.</a:t>
                </a:r>
              </a:p>
              <a:p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CD40440C-0188-F5D7-BA2B-6C65310FA51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47652" y="153348"/>
                <a:ext cx="3475855" cy="2308324"/>
              </a:xfrm>
              <a:prstGeom prst="rect">
                <a:avLst/>
              </a:prstGeom>
              <a:blipFill>
                <a:blip r:embed="rId3"/>
                <a:stretch>
                  <a:fillRect l="-1404" t="-1319"/>
                </a:stretch>
              </a:blipFill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8999578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5C2737-508E-1DFE-098B-3EEDD47652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886035E4-E344-612B-BB59-387DDF10D9A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link="rId2"/>
          <a:srcRect/>
          <a:stretch>
            <a:fillRect/>
          </a:stretch>
        </p:blipFill>
        <p:spPr>
          <a:xfrm>
            <a:off x="439948" y="-422692"/>
            <a:ext cx="7556740" cy="7556740"/>
          </a:xfr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FF0478EB-DE3B-0BA7-447C-A94ADD0B44AF}"/>
                  </a:ext>
                </a:extLst>
              </p:cNvPr>
              <p:cNvSpPr txBox="1"/>
              <p:nvPr/>
            </p:nvSpPr>
            <p:spPr>
              <a:xfrm>
                <a:off x="8547652" y="153348"/>
                <a:ext cx="3475855" cy="397031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chemeClr val="bg1"/>
                    </a:solidFill>
                  </a:rPr>
                  <a:t>Bei Licht gilt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Δ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en-US" dirty="0">
                        <a:solidFill>
                          <a:schemeClr val="bg1"/>
                        </a:solidFill>
                      </a:rPr>
                      <m:t>c</m:t>
                    </m:r>
                    <m:r>
                      <m:rPr>
                        <m:sty m:val="p"/>
                      </m:rPr>
                      <a:rPr lang="en-US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Δ</m:t>
                    </m:r>
                    <m:r>
                      <a:rPr lang="en-US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dirty="0">
                  <a:solidFill>
                    <a:schemeClr val="bg1"/>
                  </a:solidFill>
                </a:endParaRPr>
              </a:p>
              <a:p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 err="1">
                    <a:solidFill>
                      <a:schemeClr val="bg1"/>
                    </a:solidFill>
                  </a:rPr>
                  <a:t>Dadurch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entstehen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Diagonalen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im</a:t>
                </a:r>
                <a:r>
                  <a:rPr lang="en-US" dirty="0">
                    <a:solidFill>
                      <a:schemeClr val="bg1"/>
                    </a:solidFill>
                  </a:rPr>
                  <a:t> Minkowski-</a:t>
                </a:r>
                <a:r>
                  <a:rPr lang="en-US" dirty="0" err="1">
                    <a:solidFill>
                      <a:schemeClr val="bg1"/>
                    </a:solidFill>
                  </a:rPr>
                  <a:t>Diagramm</a:t>
                </a:r>
                <a:endParaRPr lang="en-US" dirty="0">
                  <a:solidFill>
                    <a:schemeClr val="bg1"/>
                  </a:solidFill>
                </a:endParaRPr>
              </a:p>
              <a:p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Wir </a:t>
                </a:r>
                <a:r>
                  <a:rPr lang="en-US" dirty="0" err="1">
                    <a:solidFill>
                      <a:schemeClr val="bg1"/>
                    </a:solidFill>
                  </a:rPr>
                  <a:t>können</a:t>
                </a:r>
                <a:r>
                  <a:rPr lang="en-US" dirty="0">
                    <a:solidFill>
                      <a:schemeClr val="bg1"/>
                    </a:solidFill>
                  </a:rPr>
                  <a:t> in </a:t>
                </a:r>
                <a:r>
                  <a:rPr lang="en-US" dirty="0" err="1">
                    <a:solidFill>
                      <a:schemeClr val="bg1"/>
                    </a:solidFill>
                  </a:rPr>
                  <a:t>zeitartige</a:t>
                </a:r>
                <a:r>
                  <a:rPr lang="en-US" dirty="0">
                    <a:solidFill>
                      <a:schemeClr val="bg1"/>
                    </a:solidFill>
                  </a:rPr>
                  <a:t> und </a:t>
                </a:r>
                <a:r>
                  <a:rPr lang="en-US" dirty="0" err="1">
                    <a:solidFill>
                      <a:schemeClr val="bg1"/>
                    </a:solidFill>
                  </a:rPr>
                  <a:t>raumsartige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Vektoren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unterteilen</a:t>
                </a:r>
                <a:r>
                  <a:rPr lang="en-US" dirty="0">
                    <a:solidFill>
                      <a:schemeClr val="bg1"/>
                    </a:solidFill>
                  </a:rPr>
                  <a:t>.</a:t>
                </a:r>
              </a:p>
              <a:p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Falls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c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d>
                      <m:dPr>
                        <m:begChr m:val="|"/>
                        <m:endChr m:val="|"/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Δ</m:t>
                        </m:r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&gt;|</m:t>
                    </m:r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Δ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|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so </a:t>
                </a:r>
                <a:r>
                  <a:rPr lang="en-US" dirty="0" err="1">
                    <a:solidFill>
                      <a:schemeClr val="bg1"/>
                    </a:solidFill>
                  </a:rPr>
                  <a:t>ist</a:t>
                </a:r>
                <a:r>
                  <a:rPr lang="en-US" dirty="0">
                    <a:solidFill>
                      <a:schemeClr val="bg1"/>
                    </a:solidFill>
                  </a:rPr>
                  <a:t> es </a:t>
                </a:r>
                <a:r>
                  <a:rPr lang="en-US" dirty="0" err="1">
                    <a:solidFill>
                      <a:schemeClr val="bg1"/>
                    </a:solidFill>
                  </a:rPr>
                  <a:t>ein</a:t>
                </a:r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 err="1">
                    <a:solidFill>
                      <a:schemeClr val="bg1"/>
                    </a:solidFill>
                  </a:rPr>
                  <a:t>zeitartiger</a:t>
                </a:r>
                <a:r>
                  <a:rPr lang="en-US" dirty="0">
                    <a:solidFill>
                      <a:schemeClr val="bg1"/>
                    </a:solidFill>
                  </a:rPr>
                  <a:t> Vektor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en-US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&gt;0</m:t>
                        </m:r>
                      </m:e>
                    </m:d>
                  </m:oMath>
                </a14:m>
                <a:endParaRPr lang="en-US" dirty="0">
                  <a:solidFill>
                    <a:schemeClr val="bg1"/>
                  </a:solidFill>
                </a:endParaRPr>
              </a:p>
              <a:p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 err="1">
                    <a:solidFill>
                      <a:schemeClr val="bg1"/>
                    </a:solidFill>
                  </a:rPr>
                  <a:t>Diese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liegen</a:t>
                </a:r>
                <a:r>
                  <a:rPr lang="en-US" dirty="0">
                    <a:solidFill>
                      <a:schemeClr val="bg1"/>
                    </a:solidFill>
                  </a:rPr>
                  <a:t> in der Zukunft </a:t>
                </a:r>
                <a:r>
                  <a:rPr lang="en-US" dirty="0" err="1">
                    <a:solidFill>
                      <a:schemeClr val="bg1"/>
                    </a:solidFill>
                  </a:rPr>
                  <a:t>oder</a:t>
                </a:r>
                <a:r>
                  <a:rPr lang="en-US" dirty="0">
                    <a:solidFill>
                      <a:schemeClr val="bg1"/>
                    </a:solidFill>
                  </a:rPr>
                  <a:t> der </a:t>
                </a:r>
                <a:r>
                  <a:rPr lang="en-US" dirty="0" err="1">
                    <a:solidFill>
                      <a:schemeClr val="bg1"/>
                    </a:solidFill>
                  </a:rPr>
                  <a:t>Vergangenheit</a:t>
                </a:r>
                <a:r>
                  <a:rPr lang="en-US" dirty="0">
                    <a:solidFill>
                      <a:schemeClr val="bg1"/>
                    </a:solidFill>
                  </a:rPr>
                  <a:t> und </a:t>
                </a:r>
                <a:r>
                  <a:rPr lang="en-US" dirty="0" err="1">
                    <a:solidFill>
                      <a:schemeClr val="bg1"/>
                    </a:solidFill>
                  </a:rPr>
                  <a:t>können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beeinflusst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werden</a:t>
                </a:r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FF0478EB-DE3B-0BA7-447C-A94ADD0B44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47652" y="153348"/>
                <a:ext cx="3475855" cy="3970318"/>
              </a:xfrm>
              <a:prstGeom prst="rect">
                <a:avLst/>
              </a:prstGeom>
              <a:blipFill>
                <a:blip r:embed="rId3"/>
                <a:stretch>
                  <a:fillRect l="-1404" t="-768" b="-1536"/>
                </a:stretch>
              </a:blipFill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3131152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08AEE6-5D23-2B62-BDD5-AB1A3B1E4C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47CBB087-56D6-CFD6-C696-B79B53B935C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link="rId2"/>
          <a:srcRect/>
          <a:stretch>
            <a:fillRect/>
          </a:stretch>
        </p:blipFill>
        <p:spPr>
          <a:xfrm>
            <a:off x="439948" y="-422692"/>
            <a:ext cx="7556740" cy="7556740"/>
          </a:xfr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F0EA46D7-D23D-2740-10E1-B7751F23036B}"/>
                  </a:ext>
                </a:extLst>
              </p:cNvPr>
              <p:cNvSpPr txBox="1"/>
              <p:nvPr/>
            </p:nvSpPr>
            <p:spPr>
              <a:xfrm>
                <a:off x="8547652" y="153348"/>
                <a:ext cx="3475855" cy="618630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chemeClr val="bg1"/>
                    </a:solidFill>
                  </a:rPr>
                  <a:t>Bei Licht gilt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Δ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en-US" dirty="0">
                        <a:solidFill>
                          <a:schemeClr val="bg1"/>
                        </a:solidFill>
                      </a:rPr>
                      <m:t>c</m:t>
                    </m:r>
                    <m:r>
                      <m:rPr>
                        <m:sty m:val="p"/>
                      </m:rPr>
                      <a:rPr lang="en-US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Δ</m:t>
                    </m:r>
                    <m:r>
                      <a:rPr lang="en-US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dirty="0">
                  <a:solidFill>
                    <a:schemeClr val="bg1"/>
                  </a:solidFill>
                </a:endParaRPr>
              </a:p>
              <a:p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 err="1">
                    <a:solidFill>
                      <a:schemeClr val="bg1"/>
                    </a:solidFill>
                  </a:rPr>
                  <a:t>Dadurch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entstehen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Diagonalen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im</a:t>
                </a:r>
                <a:r>
                  <a:rPr lang="en-US" dirty="0">
                    <a:solidFill>
                      <a:schemeClr val="bg1"/>
                    </a:solidFill>
                  </a:rPr>
                  <a:t> Minkowski-</a:t>
                </a:r>
                <a:r>
                  <a:rPr lang="en-US" dirty="0" err="1">
                    <a:solidFill>
                      <a:schemeClr val="bg1"/>
                    </a:solidFill>
                  </a:rPr>
                  <a:t>Diagramm</a:t>
                </a:r>
                <a:endParaRPr lang="en-US" dirty="0">
                  <a:solidFill>
                    <a:schemeClr val="bg1"/>
                  </a:solidFill>
                </a:endParaRPr>
              </a:p>
              <a:p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Wir </a:t>
                </a:r>
                <a:r>
                  <a:rPr lang="en-US" dirty="0" err="1">
                    <a:solidFill>
                      <a:schemeClr val="bg1"/>
                    </a:solidFill>
                  </a:rPr>
                  <a:t>können</a:t>
                </a:r>
                <a:r>
                  <a:rPr lang="en-US" dirty="0">
                    <a:solidFill>
                      <a:schemeClr val="bg1"/>
                    </a:solidFill>
                  </a:rPr>
                  <a:t> in </a:t>
                </a:r>
                <a:r>
                  <a:rPr lang="en-US" dirty="0" err="1">
                    <a:solidFill>
                      <a:schemeClr val="bg1"/>
                    </a:solidFill>
                  </a:rPr>
                  <a:t>zeitartige</a:t>
                </a:r>
                <a:r>
                  <a:rPr lang="en-US" dirty="0">
                    <a:solidFill>
                      <a:schemeClr val="bg1"/>
                    </a:solidFill>
                  </a:rPr>
                  <a:t> und </a:t>
                </a:r>
                <a:r>
                  <a:rPr lang="en-US" dirty="0" err="1">
                    <a:solidFill>
                      <a:schemeClr val="bg1"/>
                    </a:solidFill>
                  </a:rPr>
                  <a:t>raumsartige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Vektoren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unterteilen</a:t>
                </a:r>
                <a:r>
                  <a:rPr lang="en-US" dirty="0">
                    <a:solidFill>
                      <a:schemeClr val="bg1"/>
                    </a:solidFill>
                  </a:rPr>
                  <a:t>.</a:t>
                </a:r>
              </a:p>
              <a:p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Falls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c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d>
                      <m:dPr>
                        <m:begChr m:val="|"/>
                        <m:endChr m:val="|"/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Δ</m:t>
                        </m:r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&gt;|</m:t>
                    </m:r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Δ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|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so </a:t>
                </a:r>
                <a:r>
                  <a:rPr lang="en-US" dirty="0" err="1">
                    <a:solidFill>
                      <a:schemeClr val="bg1"/>
                    </a:solidFill>
                  </a:rPr>
                  <a:t>ist</a:t>
                </a:r>
                <a:r>
                  <a:rPr lang="en-US" dirty="0">
                    <a:solidFill>
                      <a:schemeClr val="bg1"/>
                    </a:solidFill>
                  </a:rPr>
                  <a:t> es </a:t>
                </a:r>
                <a:r>
                  <a:rPr lang="en-US" dirty="0" err="1">
                    <a:solidFill>
                      <a:schemeClr val="bg1"/>
                    </a:solidFill>
                  </a:rPr>
                  <a:t>ein</a:t>
                </a:r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 err="1">
                    <a:solidFill>
                      <a:schemeClr val="bg1"/>
                    </a:solidFill>
                  </a:rPr>
                  <a:t>zeitartiger</a:t>
                </a:r>
                <a:r>
                  <a:rPr lang="en-US" dirty="0">
                    <a:solidFill>
                      <a:schemeClr val="bg1"/>
                    </a:solidFill>
                  </a:rPr>
                  <a:t> Vektor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en-US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&gt;0</m:t>
                        </m:r>
                      </m:e>
                    </m:d>
                  </m:oMath>
                </a14:m>
                <a:endParaRPr lang="en-US" dirty="0">
                  <a:solidFill>
                    <a:schemeClr val="bg1"/>
                  </a:solidFill>
                </a:endParaRPr>
              </a:p>
              <a:p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 err="1">
                    <a:solidFill>
                      <a:schemeClr val="bg1"/>
                    </a:solidFill>
                  </a:rPr>
                  <a:t>Diese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liegen</a:t>
                </a:r>
                <a:r>
                  <a:rPr lang="en-US" dirty="0">
                    <a:solidFill>
                      <a:schemeClr val="bg1"/>
                    </a:solidFill>
                  </a:rPr>
                  <a:t> in der Zukunft </a:t>
                </a:r>
                <a:r>
                  <a:rPr lang="en-US" dirty="0" err="1">
                    <a:solidFill>
                      <a:schemeClr val="bg1"/>
                    </a:solidFill>
                  </a:rPr>
                  <a:t>oder</a:t>
                </a:r>
                <a:r>
                  <a:rPr lang="en-US" dirty="0">
                    <a:solidFill>
                      <a:schemeClr val="bg1"/>
                    </a:solidFill>
                  </a:rPr>
                  <a:t> der </a:t>
                </a:r>
                <a:r>
                  <a:rPr lang="en-US" dirty="0" err="1">
                    <a:solidFill>
                      <a:schemeClr val="bg1"/>
                    </a:solidFill>
                  </a:rPr>
                  <a:t>Vergangenheit</a:t>
                </a:r>
                <a:r>
                  <a:rPr lang="en-US" dirty="0">
                    <a:solidFill>
                      <a:schemeClr val="bg1"/>
                    </a:solidFill>
                  </a:rPr>
                  <a:t> und </a:t>
                </a:r>
                <a:r>
                  <a:rPr lang="en-US" dirty="0" err="1">
                    <a:solidFill>
                      <a:schemeClr val="bg1"/>
                    </a:solidFill>
                  </a:rPr>
                  <a:t>können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beeinflusst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werden</a:t>
                </a:r>
                <a:r>
                  <a:rPr lang="en-US" dirty="0">
                    <a:solidFill>
                      <a:schemeClr val="bg1"/>
                    </a:solidFill>
                  </a:rPr>
                  <a:t>.</a:t>
                </a:r>
              </a:p>
              <a:p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Falls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c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d>
                      <m:dPr>
                        <m:begChr m:val="|"/>
                        <m:endChr m:val="|"/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Δ</m:t>
                        </m:r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&lt;|</m:t>
                    </m:r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Δ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|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so </a:t>
                </a:r>
                <a:r>
                  <a:rPr lang="en-US" dirty="0" err="1">
                    <a:solidFill>
                      <a:schemeClr val="bg1"/>
                    </a:solidFill>
                  </a:rPr>
                  <a:t>ist</a:t>
                </a:r>
                <a:r>
                  <a:rPr lang="en-US" dirty="0">
                    <a:solidFill>
                      <a:schemeClr val="bg1"/>
                    </a:solidFill>
                  </a:rPr>
                  <a:t> es </a:t>
                </a:r>
                <a:r>
                  <a:rPr lang="en-US" dirty="0" err="1">
                    <a:solidFill>
                      <a:schemeClr val="bg1"/>
                    </a:solidFill>
                  </a:rPr>
                  <a:t>ein</a:t>
                </a:r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 err="1">
                    <a:solidFill>
                      <a:schemeClr val="bg1"/>
                    </a:solidFill>
                  </a:rPr>
                  <a:t>raumartiger</a:t>
                </a:r>
                <a:r>
                  <a:rPr lang="en-US" dirty="0">
                    <a:solidFill>
                      <a:schemeClr val="bg1"/>
                    </a:solidFill>
                  </a:rPr>
                  <a:t> Vektor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en-US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&lt;</m:t>
                        </m:r>
                        <m:r>
                          <a:rPr lang="en-US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</m:oMath>
                </a14:m>
                <a:endParaRPr lang="en-US" dirty="0">
                  <a:solidFill>
                    <a:schemeClr val="bg1"/>
                  </a:solidFill>
                </a:endParaRPr>
              </a:p>
              <a:p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 err="1">
                    <a:solidFill>
                      <a:schemeClr val="bg1"/>
                    </a:solidFill>
                  </a:rPr>
                  <a:t>Diese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Ereignisse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können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keinen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Einfluss</a:t>
                </a:r>
                <a:r>
                  <a:rPr lang="en-US" dirty="0">
                    <a:solidFill>
                      <a:schemeClr val="bg1"/>
                    </a:solidFill>
                  </a:rPr>
                  <a:t> auf </a:t>
                </a:r>
                <a:r>
                  <a:rPr lang="en-US" dirty="0" err="1">
                    <a:solidFill>
                      <a:schemeClr val="bg1"/>
                    </a:solidFill>
                  </a:rPr>
                  <a:t>uns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haben</a:t>
                </a:r>
                <a:r>
                  <a:rPr lang="en-US" dirty="0">
                    <a:solidFill>
                      <a:schemeClr val="bg1"/>
                    </a:solidFill>
                  </a:rPr>
                  <a:t> und </a:t>
                </a:r>
                <a:r>
                  <a:rPr lang="en-US" dirty="0" err="1">
                    <a:solidFill>
                      <a:schemeClr val="bg1"/>
                    </a:solidFill>
                  </a:rPr>
                  <a:t>wir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keinen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Einfluss</a:t>
                </a:r>
                <a:r>
                  <a:rPr lang="en-US" dirty="0">
                    <a:solidFill>
                      <a:schemeClr val="bg1"/>
                    </a:solidFill>
                  </a:rPr>
                  <a:t> auf </a:t>
                </a:r>
                <a:r>
                  <a:rPr lang="en-US" dirty="0" err="1">
                    <a:solidFill>
                      <a:schemeClr val="bg1"/>
                    </a:solidFill>
                  </a:rPr>
                  <a:t>diese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Ereignisse</a:t>
                </a:r>
                <a:r>
                  <a:rPr lang="en-US" dirty="0">
                    <a:solidFill>
                      <a:schemeClr val="bg1"/>
                    </a:solidFill>
                  </a:rPr>
                  <a:t>.</a:t>
                </a:r>
              </a:p>
              <a:p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F0EA46D7-D23D-2740-10E1-B7751F2303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47652" y="153348"/>
                <a:ext cx="3475855" cy="6186309"/>
              </a:xfrm>
              <a:prstGeom prst="rect">
                <a:avLst/>
              </a:prstGeom>
              <a:blipFill>
                <a:blip r:embed="rId3"/>
                <a:stretch>
                  <a:fillRect l="-1404" t="-493" r="-175"/>
                </a:stretch>
              </a:blipFill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01207689"/>
      </p:ext>
    </p:extLst>
  </p:cSld>
  <p:clrMapOvr>
    <a:masterClrMapping/>
  </p:clrMapOvr>
</p:sld>
</file>

<file path=ppt/theme/theme1.xml><?xml version="1.0" encoding="utf-8"?>
<a:theme xmlns:a="http://schemas.openxmlformats.org/drawingml/2006/main" name="Dividende">
  <a:themeElements>
    <a:clrScheme name="Benutzerdefiniert 1">
      <a:dk1>
        <a:sysClr val="windowText" lastClr="000000"/>
      </a:dk1>
      <a:lt1>
        <a:sysClr val="window" lastClr="FFFFFF"/>
      </a:lt1>
      <a:dk2>
        <a:srgbClr val="3D3D3D"/>
      </a:dk2>
      <a:lt2>
        <a:srgbClr val="EBEBEB"/>
      </a:lt2>
      <a:accent1>
        <a:srgbClr val="000B3F"/>
      </a:accent1>
      <a:accent2>
        <a:srgbClr val="4590B8"/>
      </a:accent2>
      <a:accent3>
        <a:srgbClr val="45CBE8"/>
      </a:accent3>
      <a:accent4>
        <a:srgbClr val="969FA7"/>
      </a:accent4>
      <a:accent5>
        <a:srgbClr val="A2C777"/>
      </a:accent5>
      <a:accent6>
        <a:srgbClr val="42955F"/>
      </a:accent6>
      <a:hlink>
        <a:srgbClr val="828282"/>
      </a:hlink>
      <a:folHlink>
        <a:srgbClr val="A5A5A5"/>
      </a:folHlink>
    </a:clrScheme>
    <a:fontScheme name="Dividende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e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" id="{9697A71B-4AB7-4A1A-BD5B-BB2D22835B57}" vid="{66F1C100-1D2B-4BEA-AD01-C4F230B3B965}"/>
    </a:ext>
  </a:extLst>
</a:theme>
</file>

<file path=ppt/theme/theme2.xml><?xml version="1.0" encoding="utf-8"?>
<a:theme xmlns:a="http://schemas.openxmlformats.org/drawingml/2006/main" name="1_Dividende">
  <a:themeElements>
    <a:clrScheme name="Benutzerdefiniert 1">
      <a:dk1>
        <a:sysClr val="windowText" lastClr="000000"/>
      </a:dk1>
      <a:lt1>
        <a:sysClr val="window" lastClr="FFFFFF"/>
      </a:lt1>
      <a:dk2>
        <a:srgbClr val="3D3D3D"/>
      </a:dk2>
      <a:lt2>
        <a:srgbClr val="EBEBEB"/>
      </a:lt2>
      <a:accent1>
        <a:srgbClr val="000B3F"/>
      </a:accent1>
      <a:accent2>
        <a:srgbClr val="4590B8"/>
      </a:accent2>
      <a:accent3>
        <a:srgbClr val="45CBE8"/>
      </a:accent3>
      <a:accent4>
        <a:srgbClr val="969FA7"/>
      </a:accent4>
      <a:accent5>
        <a:srgbClr val="A2C777"/>
      </a:accent5>
      <a:accent6>
        <a:srgbClr val="42955F"/>
      </a:accent6>
      <a:hlink>
        <a:srgbClr val="828282"/>
      </a:hlink>
      <a:folHlink>
        <a:srgbClr val="A5A5A5"/>
      </a:folHlink>
    </a:clrScheme>
    <a:fontScheme name="Dividende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e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" id="{9697A71B-4AB7-4A1A-BD5B-BB2D22835B57}" vid="{66F1C100-1D2B-4BEA-AD01-C4F230B3B965}"/>
    </a:ext>
  </a:extLst>
</a:theme>
</file>

<file path=ppt/theme/theme3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TM03457464[[fn=Dividende]]</Template>
  <TotalTime>0</TotalTime>
  <Words>579</Words>
  <Application>Microsoft Office PowerPoint</Application>
  <PresentationFormat>Widescreen</PresentationFormat>
  <Paragraphs>118</Paragraphs>
  <Slides>15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15</vt:i4>
      </vt:variant>
    </vt:vector>
  </HeadingPairs>
  <TitlesOfParts>
    <vt:vector size="23" baseType="lpstr">
      <vt:lpstr>Aharoni</vt:lpstr>
      <vt:lpstr>Arial</vt:lpstr>
      <vt:lpstr>Calibri</vt:lpstr>
      <vt:lpstr>Cambria Math</vt:lpstr>
      <vt:lpstr>Gill Sans MT</vt:lpstr>
      <vt:lpstr>Wingdings 2</vt:lpstr>
      <vt:lpstr>Dividende</vt:lpstr>
      <vt:lpstr>1_Dividende</vt:lpstr>
      <vt:lpstr>Minkowski Diagramme Beispiele und Anwendungen im kontext der Speziellen Relativitätstheorie</vt:lpstr>
      <vt:lpstr>Grundlegende Annahmen und Zusammenhänge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CROC v2 Testing ETH Zurich</dc:title>
  <dc:creator>Paul Sander</dc:creator>
  <cp:keywords>CROC, CROCv2, Datamerging, Aurora, ETH</cp:keywords>
  <cp:lastModifiedBy>Paul Sander</cp:lastModifiedBy>
  <cp:revision>83</cp:revision>
  <dcterms:created xsi:type="dcterms:W3CDTF">2022-02-08T00:12:22Z</dcterms:created>
  <dcterms:modified xsi:type="dcterms:W3CDTF">2025-03-21T16:43:28Z</dcterms:modified>
</cp:coreProperties>
</file>