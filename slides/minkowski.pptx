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84" r:id="rId1"/>
    <p:sldMasterId id="2147483798" r:id="rId2"/>
  </p:sldMasterIdLst>
  <p:notesMasterIdLst>
    <p:notesMasterId r:id="rId29"/>
  </p:notesMasterIdLst>
  <p:sldIdLst>
    <p:sldId id="256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59" r:id="rId14"/>
    <p:sldId id="270" r:id="rId15"/>
    <p:sldId id="268" r:id="rId16"/>
    <p:sldId id="269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2426"/>
    <a:srgbClr val="FF8418"/>
    <a:srgbClr val="41AB41"/>
    <a:srgbClr val="96655A"/>
    <a:srgbClr val="AB85CB"/>
    <a:srgbClr val="1771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3333" autoAdjust="0"/>
  </p:normalViewPr>
  <p:slideViewPr>
    <p:cSldViewPr snapToGrid="0">
      <p:cViewPr varScale="1">
        <p:scale>
          <a:sx n="89" d="100"/>
          <a:sy n="89" d="100"/>
        </p:scale>
        <p:origin x="45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46714-66A9-4331-9687-D7DE69600F8C}" type="datetimeFigureOut">
              <a:rPr lang="de-DE" smtClean="0"/>
              <a:t>27.03.2025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3BE582-3C9C-4E6A-A63A-4ED2653A53B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76462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supervisor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3BE582-3C9C-4E6A-A63A-4ED2653A53B1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5920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3BE582-3C9C-4E6A-A63A-4ED2653A53B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5179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C81DDBC-4466-4E4D-8348-9E61A07BBB23}" type="datetime2">
              <a:rPr lang="en-CA" smtClean="0"/>
              <a:t>Thursday, March 27,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9126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Thursday, March 27,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3461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55F0DF-0DE4-46A6-89EE-D85721A78BFF}" type="datetime2">
              <a:rPr lang="en-CA" smtClean="0"/>
              <a:t>Thursday, March 27,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345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B742-5549-4C1E-A4A7-964958457E23}" type="datetime2">
              <a:rPr lang="en-CA" smtClean="0"/>
              <a:t>Thursday, March 27,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3057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52A30-8CC1-4184-BF4D-47E2B21E4EAF}" type="datetime2">
              <a:rPr lang="en-CA" smtClean="0"/>
              <a:t>Thursday, March 27,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41112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64B94-830A-44DB-B256-EB4AB7B8943B}" type="datetime2">
              <a:rPr lang="en-CA" smtClean="0"/>
              <a:t>Thursday, March 27,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4315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684CD-BF8B-4444-AC4B-E9077F770D42}" type="datetime2">
              <a:rPr lang="en-CA" smtClean="0"/>
              <a:t>Thursday, March 27, 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8889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ED8E9-D70F-45C4-8048-A836134AE31C}" type="datetime2">
              <a:rPr lang="en-CA" smtClean="0"/>
              <a:t>Thursday, March 27, 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823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EC878-C261-4EEC-84F8-2911246240CC}" type="datetime2">
              <a:rPr lang="en-CA" smtClean="0"/>
              <a:t>Thursday, March 27, 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948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4A011472-C2FB-4557-976A-45B9E45E41B8}" type="datetime2">
              <a:rPr lang="en-CA" smtClean="0"/>
              <a:t>Thursday, March 27,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3020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1A5E8-2D2A-4061-8930-BA891F6E5824}" type="datetime2">
              <a:rPr lang="en-CA" smtClean="0"/>
              <a:t>Thursday, March 27,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87450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79B12-0087-499C-8708-C48C1D5EFD8A}" type="datetime2">
              <a:rPr lang="en-CA" smtClean="0"/>
              <a:t>Thursday, March 27,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11541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F664A41-A95B-4B58-B281-ED13D91A7603}" type="datetime2">
              <a:rPr lang="en-CA" smtClean="0"/>
              <a:t>Thursday, March 27,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680088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 userDrawn="1"/>
        </p:nvSpPr>
        <p:spPr>
          <a:xfrm>
            <a:off x="8404166" y="0"/>
            <a:ext cx="3787833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fld id="{12F3EEEF-9270-448B-8799-2AA9B50D0F5B}" type="datetime2">
              <a:rPr lang="en-CA" smtClean="0"/>
              <a:t>Thursday, March 27,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4802001-C76A-40BD-B2EB-DA779CB00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155469"/>
            <a:ext cx="7166270" cy="4703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704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r>
              <a:rPr lang="de-DE" dirty="0"/>
              <a:t>Donnerstag, 20. März 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26607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>
                <a:solidFill>
                  <a:schemeClr val="accent2"/>
                </a:solidFill>
              </a:defRPr>
            </a:lvl1pPr>
          </a:lstStyle>
          <a:p>
            <a:r>
              <a:rPr lang="de-DE"/>
              <a:t>Paul Sander, pasander@student.ethz.ch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8DD394E-F29C-48AC-A6F9-BA3693CFB28B}"/>
              </a:ext>
            </a:extLst>
          </p:cNvPr>
          <p:cNvSpPr txBox="1">
            <a:spLocks/>
          </p:cNvSpPr>
          <p:nvPr userDrawn="1"/>
        </p:nvSpPr>
        <p:spPr>
          <a:xfrm>
            <a:off x="3349514" y="5951810"/>
            <a:ext cx="51549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 cap="all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cap="none" dirty="0"/>
              <a:t>Minkowski Diagramme</a:t>
            </a:r>
          </a:p>
        </p:txBody>
      </p:sp>
    </p:spTree>
    <p:extLst>
      <p:ext uri="{BB962C8B-B14F-4D97-AF65-F5344CB8AC3E}">
        <p14:creationId xmlns:p14="http://schemas.microsoft.com/office/powerpoint/2010/main" val="2562889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5" r:id="rId1"/>
    <p:sldLayoutId id="2147483786" r:id="rId2"/>
    <p:sldLayoutId id="2147483787" r:id="rId3"/>
    <p:sldLayoutId id="2147483788" r:id="rId4"/>
    <p:sldLayoutId id="2147483811" r:id="rId5"/>
    <p:sldLayoutId id="2147483812" r:id="rId6"/>
    <p:sldLayoutId id="2147483789" r:id="rId7"/>
    <p:sldLayoutId id="2147483790" r:id="rId8"/>
    <p:sldLayoutId id="2147483791" r:id="rId9"/>
    <p:sldLayoutId id="2147483792" r:id="rId10"/>
    <p:sldLayoutId id="2147483793" r:id="rId11"/>
    <p:sldLayoutId id="2147483794" r:id="rId12"/>
    <p:sldLayoutId id="2147483795" r:id="rId13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5B784850-771A-44E0-8EA9-A966A4C42E11}" type="datetime2">
              <a:rPr lang="en-CA" smtClean="0"/>
              <a:t>Thursday, March 27,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93998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empty.png" TargetMode="Externa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file:///C:\Users\sande\Documents\SRT_plotting\img\one_point_no_lines.png" TargetMode="Externa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file:///C:\Users\sande\Documents\SRT_plotting\img\one_point_partial_lines.png" TargetMode="Externa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file:///C:\Users\sande\Documents\SRT_plotting\img\one_point_full_lines.png" TargetMode="Externa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file:///C:\Users\sande\Documents\SRT_plotting\img\two_points_one_line.png" TargetMode="Externa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file:///C:\Users\sande\Documents\SRT_plotting\img\two_points_partial_lines.png" TargetMode="Externa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sande\Documents\SRT_plotting\img\two_points_full_lines.pn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file:///C:\Users\sande\Documents\SRT_plotting\img\two_points_connected.png" TargetMode="Externa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sande\Documents\SRT_plotting\img\two_points_connected_coordinates.png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file:///C:\Users\sande\Documents\SRT_plotting\img\light.png" TargetMode="Externa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file:///C:\Users\sande\Documents\SRT_plotting\img\light_with_both.png" TargetMode="Externa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file:///C:\Users\sande\Documents\SRT_plotting\img\light_with_time.png" TargetMode="Externa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file:///C:\Users\sande\Documents\SRT_plotting\img\light_with_space.png" TargetMode="Externa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two_points_no_lines.png" TargetMode="Externa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two_points_future.png" TargetMode="Externa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two_points_past.png" TargetMode="Externa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two_points_future_past.png" TargetMode="Externa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file:///C:\Users\sande\Documents\SRT_plotting\img\light.png" TargetMode="Externa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file:///C:\Users\sande\Documents\SRT_plotting\img\worldline_first_point.png" TargetMode="Externa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file:///C:\Users\sande\Documents\SRT_plotting\img\worldline_second_point.png" TargetMode="Externa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file:///C:\Users\sande\Documents\SRT_plotting\img\worldline_third_point.png" TargetMode="Externa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file:///C:\Users\sande\Documents\SRT_plotting\img\worldline_fourth_point.png" TargetMode="Externa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file:///C:\Users\sande\Documents\SRT_plotting\img\worldline_introduce_line.png" TargetMode="Externa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file:///C:\Users\sande\Documents\SRT_plotting\img\worldline_introduce_line.png" TargetMode="Externa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DA589-D18C-4E9B-BBD2-F4154296F2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2400" b="0" i="0" dirty="0">
                <a:effectLst/>
                <a:latin typeface="Arial" panose="020B0604020202020204" pitchFamily="34" charset="0"/>
              </a:rPr>
              <a:t>Minkowski </a:t>
            </a:r>
            <a:r>
              <a:rPr lang="en-US" sz="2400" b="0" i="0" dirty="0" err="1">
                <a:effectLst/>
                <a:latin typeface="Arial" panose="020B0604020202020204" pitchFamily="34" charset="0"/>
              </a:rPr>
              <a:t>Diagramme</a:t>
            </a:r>
            <a:br>
              <a:rPr lang="en-US" sz="2400" b="0" i="0" dirty="0">
                <a:effectLst/>
                <a:latin typeface="Arial" panose="020B0604020202020204" pitchFamily="34" charset="0"/>
              </a:rPr>
            </a:br>
            <a:r>
              <a:rPr lang="en-US" sz="1400" b="0" i="0" dirty="0" err="1">
                <a:effectLst/>
                <a:latin typeface="Arial" panose="020B0604020202020204" pitchFamily="34" charset="0"/>
              </a:rPr>
              <a:t>Beispiele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und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Anwendungen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im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kontext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der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Speziellen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Relativitätstheorie</a:t>
            </a:r>
            <a:endParaRPr lang="de-DE" sz="4400" dirty="0">
              <a:cs typeface="Aharoni" panose="02010803020104030203" pitchFamily="2" charset="-79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8DD305F-AED7-4372-8293-D1BFC81E90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1" y="3628239"/>
            <a:ext cx="8462141" cy="2531021"/>
          </a:xfrm>
        </p:spPr>
        <p:txBody>
          <a:bodyPr>
            <a:normAutofit/>
          </a:bodyPr>
          <a:lstStyle/>
          <a:p>
            <a:r>
              <a:rPr lang="de-DE" b="1" cap="none" dirty="0">
                <a:solidFill>
                  <a:schemeClr val="bg1"/>
                </a:solidFill>
              </a:rPr>
              <a:t>Paul Sander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pasander@ethz.ch</a:t>
            </a:r>
            <a:br>
              <a:rPr lang="de-DE" b="1" cap="none" dirty="0">
                <a:solidFill>
                  <a:schemeClr val="bg1"/>
                </a:solidFill>
              </a:rPr>
            </a:br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Institut für Teilchen und Astrophysik, Physik Department, ETH Zürich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Center for Neutron and </a:t>
            </a:r>
            <a:r>
              <a:rPr lang="de-DE" b="1" cap="none" dirty="0" err="1">
                <a:solidFill>
                  <a:schemeClr val="bg1"/>
                </a:solidFill>
              </a:rPr>
              <a:t>Muon</a:t>
            </a:r>
            <a:r>
              <a:rPr lang="de-DE" b="1" cap="none" dirty="0">
                <a:solidFill>
                  <a:schemeClr val="bg1"/>
                </a:solidFill>
              </a:rPr>
              <a:t> Sciences, Paul Scherrer Institut,  </a:t>
            </a:r>
            <a:r>
              <a:rPr lang="de-DE" b="1" cap="none" dirty="0" err="1">
                <a:solidFill>
                  <a:schemeClr val="bg1"/>
                </a:solidFill>
              </a:rPr>
              <a:t>Villigen</a:t>
            </a:r>
            <a:endParaRPr lang="de-DE" b="1" cap="none" dirty="0">
              <a:solidFill>
                <a:schemeClr val="bg1"/>
              </a:solidFill>
            </a:endParaRPr>
          </a:p>
          <a:p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Zürich, der 8. April 2025</a:t>
            </a:r>
          </a:p>
          <a:p>
            <a:endParaRPr lang="de-DE" b="1" cap="none" dirty="0">
              <a:solidFill>
                <a:schemeClr val="bg1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8383E86-B186-2B21-8907-6587D7AE2D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705" y="5340094"/>
            <a:ext cx="4355606" cy="653341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8A89E95-4603-6865-1ACB-33C9E5A38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6751" y="5340094"/>
            <a:ext cx="1617432" cy="66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428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FED3407-DF10-76CA-ED1D-0BEAF150D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Grundlegende </a:t>
            </a:r>
            <a:r>
              <a:rPr lang="en-US" dirty="0" err="1"/>
              <a:t>Annahmen</a:t>
            </a:r>
            <a:r>
              <a:rPr lang="en-US" dirty="0"/>
              <a:t> und </a:t>
            </a:r>
            <a:r>
              <a:rPr lang="en-US" dirty="0" err="1"/>
              <a:t>Zusammenhänge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 anchor="t">
                <a:normAutofit fontScale="92500" lnSpcReduction="20000"/>
              </a:bodyPr>
              <a:lstStyle/>
              <a:p>
                <a:r>
                  <a:rPr lang="en-US" dirty="0"/>
                  <a:t>Bewegung </a:t>
                </a:r>
                <a:r>
                  <a:rPr lang="en-US" dirty="0" err="1"/>
                  <a:t>findet</a:t>
                </a:r>
                <a:r>
                  <a:rPr lang="en-US" dirty="0"/>
                  <a:t> in </a:t>
                </a:r>
                <a:r>
                  <a:rPr lang="en-US" dirty="0" err="1"/>
                  <a:t>einer</a:t>
                </a:r>
                <a:r>
                  <a:rPr lang="en-US" dirty="0"/>
                  <a:t> Dimension </a:t>
                </a:r>
                <a:r>
                  <a:rPr lang="en-US" dirty="0" err="1"/>
                  <a:t>statt</a:t>
                </a:r>
                <a:r>
                  <a:rPr lang="en-US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rad>
                      </m:den>
                    </m:f>
                  </m:oMath>
                </a14:m>
                <a:endParaRPr lang="en-US" b="0" dirty="0"/>
              </a:p>
              <a:p>
                <a:r>
                  <a:rPr lang="en-US" dirty="0" err="1"/>
                  <a:t>Ruhendes</a:t>
                </a:r>
                <a:r>
                  <a:rPr lang="en-US" dirty="0"/>
                  <a:t> System K und </a:t>
                </a:r>
                <a:r>
                  <a:rPr lang="en-US" dirty="0" err="1"/>
                  <a:t>bewegtes</a:t>
                </a:r>
                <a:r>
                  <a:rPr lang="en-US" dirty="0"/>
                  <a:t> System K’</a:t>
                </a:r>
              </a:p>
              <a:p>
                <a:r>
                  <a:rPr lang="en-US" dirty="0" err="1"/>
                  <a:t>Raumachse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und </a:t>
                </a:r>
                <a:r>
                  <a:rPr lang="en-US" dirty="0" err="1"/>
                  <a:t>Zeitachse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dirty="0"/>
              </a:p>
              <a:p>
                <a:endParaRPr lang="en-US" dirty="0"/>
              </a:p>
              <a:p>
                <a:r>
                  <a:rPr lang="en-US" b="0" dirty="0"/>
                  <a:t>Zur </a:t>
                </a:r>
                <a:r>
                  <a:rPr lang="en-US" b="0" dirty="0" err="1"/>
                  <a:t>einfachen</a:t>
                </a:r>
                <a:r>
                  <a:rPr lang="en-US" b="0" dirty="0"/>
                  <a:t> </a:t>
                </a:r>
                <a:r>
                  <a:rPr lang="en-US" b="0" dirty="0" err="1"/>
                  <a:t>Rechnung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b="0" dirty="0"/>
                  <a:t> in Jahren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b="0" dirty="0"/>
                  <a:t> in </a:t>
                </a:r>
                <a:r>
                  <a:rPr lang="en-US" b="0" dirty="0" err="1"/>
                  <a:t>Lichtjahren</a:t>
                </a:r>
                <a:endParaRPr lang="en-US" b="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337" t="-1846" r="-562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D0ED1845-5D53-9C2D-C3E7-8D5081335D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2396" y="1877028"/>
            <a:ext cx="4350935" cy="435093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BCD4D-0E53-49A7-A4FC-CB573B85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Thursday, March 27, 2025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45080D-CD67-5270-AA72-4A52F3408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Paul Sander, pasander@ethz.ch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1BE9F-73EB-BF2E-769B-A10162F92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/>
              <a:t>Einführung</a:t>
            </a:r>
          </a:p>
        </p:txBody>
      </p:sp>
    </p:spTree>
    <p:extLst>
      <p:ext uri="{BB962C8B-B14F-4D97-AF65-F5344CB8AC3E}">
        <p14:creationId xmlns:p14="http://schemas.microsoft.com/office/powerpoint/2010/main" val="986971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EFB6D94-F4BB-5913-9AAD-D25FB00F3F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</p:spTree>
    <p:extLst>
      <p:ext uri="{BB962C8B-B14F-4D97-AF65-F5344CB8AC3E}">
        <p14:creationId xmlns:p14="http://schemas.microsoft.com/office/powerpoint/2010/main" val="260439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75F3D-C067-F07F-01E1-A2C97B7E3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E63BCCF-9627-37EA-70AE-96BC7FA375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D3D236-64B7-DD72-3607-2D46387E8454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D3D236-64B7-DD72-3607-2D46387E8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923330"/>
              </a:xfrm>
              <a:prstGeom prst="rect">
                <a:avLst/>
              </a:prstGeom>
              <a:blipFill>
                <a:blip r:embed="rId3"/>
                <a:stretch>
                  <a:fillRect l="-1404" t="-3289" r="-157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1759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A5333-7ECB-56F6-0F76-15F8C3987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9174196-8C4F-894C-F057-BA428C872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B96C1A5-E49C-72C7-BF36-EF57C88D10F0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B96C1A5-E49C-72C7-BF36-EF57C88D1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1754326"/>
              </a:xfrm>
              <a:prstGeom prst="rect">
                <a:avLst/>
              </a:prstGeom>
              <a:blipFill>
                <a:blip r:embed="rId3"/>
                <a:stretch>
                  <a:fillRect l="-1404" t="-1736" r="-1579" b="-451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9453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0449-BA57-C04C-4200-A8CF8F3A7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1F24675-C23C-43FC-E722-FDAEAC09AD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9DD58-4549-B721-780E-3376F8012A63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Messung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Entfernung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  <a:endParaRPr lang="en-C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9DD58-4549-B721-780E-3376F8012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585323"/>
              </a:xfrm>
              <a:prstGeom prst="rect">
                <a:avLst/>
              </a:prstGeom>
              <a:blipFill>
                <a:blip r:embed="rId3"/>
                <a:stretch>
                  <a:fillRect l="-1404" t="-1179" r="-1579" b="-283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2363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D356-1BF7-6339-338C-0A37424EF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5E22809-61F3-49DF-63AD-BA3E474190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FED4D48-83D0-818A-2834-82022D5597FD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FED4D48-83D0-818A-2834-82022D559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blipFill>
                <a:blip r:embed="rId3"/>
                <a:stretch>
                  <a:fillRect l="-1404" t="-1319" r="-157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3626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B5F2A-4598-BB3E-F832-5E1EF1490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3C497DA-A97E-1FB4-1C1A-E966587F5C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5530AD-852A-3E96-F08B-0447C1A92344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5530AD-852A-3E96-F08B-0447C1A923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blipFill>
                <a:blip r:embed="rId3"/>
                <a:stretch>
                  <a:fillRect l="-1404" t="-971" r="-1579" b="-21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444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D5E28-A2BD-0C6C-6D8D-693811ED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0BCF266-429B-A1E0-E8F1-D360C0B9EF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3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CB2127-D4B9-C919-AEA8-8CC161F4B1C2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Messung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Entfernung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  <a:endParaRPr lang="en-C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CB2127-D4B9-C919-AEA8-8CC161F4B1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blipFill>
                <a:blip r:embed="rId4"/>
                <a:stretch>
                  <a:fillRect l="-1404" t="-768" r="-1579" b="-15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7391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521B2-7518-272D-FB11-E79E8F05E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A0A396A-57DD-4EA9-022B-B215474FBE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D530D4-85C6-CB00-571B-EEBFF6C565CB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Abstand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zwischen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Punkten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entspricht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nicht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direkten</a:t>
                </a:r>
                <a:r>
                  <a:rPr lang="en-US" dirty="0">
                    <a:solidFill>
                      <a:schemeClr val="bg1"/>
                    </a:solidFill>
                  </a:rPr>
                  <a:t> Linie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D530D4-85C6-CB00-571B-EEBFF6C56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blipFill>
                <a:blip r:embed="rId3"/>
                <a:stretch>
                  <a:fillRect l="-1404" t="-971" r="-1579" b="-21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4440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EFF49-0D6E-2E4F-4A70-5C537334C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CCCCA1-C522-ED31-7590-3FC773EEAF07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Abstand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zwischen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Punkten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entspricht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nicht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direkten</a:t>
                </a:r>
                <a:r>
                  <a:rPr lang="en-US" dirty="0">
                    <a:solidFill>
                      <a:schemeClr val="bg1"/>
                    </a:solidFill>
                  </a:rPr>
                  <a:t> Linie, </a:t>
                </a:r>
                <a:r>
                  <a:rPr lang="en-US" dirty="0" err="1">
                    <a:solidFill>
                      <a:schemeClr val="bg1"/>
                    </a:solidFill>
                  </a:rPr>
                  <a:t>sondern</a:t>
                </a:r>
                <a:r>
                  <a:rPr lang="en-US" dirty="0">
                    <a:solidFill>
                      <a:schemeClr val="bg1"/>
                    </a:solidFill>
                  </a:rPr>
                  <a:t> dem </a:t>
                </a:r>
                <a:r>
                  <a:rPr lang="en-US" dirty="0" err="1">
                    <a:solidFill>
                      <a:schemeClr val="bg1"/>
                    </a:solidFill>
                  </a:rPr>
                  <a:t>Abstand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entlang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Koordinatenachsen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b="0" dirty="0">
                    <a:solidFill>
                      <a:schemeClr val="bg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CCCCA1-C522-ED31-7590-3FC773EEA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4524315"/>
              </a:xfrm>
              <a:prstGeom prst="rect">
                <a:avLst/>
              </a:prstGeom>
              <a:blipFill>
                <a:blip r:embed="rId2"/>
                <a:stretch>
                  <a:fillRect l="-1404" t="-674" r="-1579" b="-121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C1CF25B-4FDE-8199-8F07-6D5258AD80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3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</p:spTree>
    <p:extLst>
      <p:ext uri="{BB962C8B-B14F-4D97-AF65-F5344CB8AC3E}">
        <p14:creationId xmlns:p14="http://schemas.microsoft.com/office/powerpoint/2010/main" val="3638297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3A00-2C99-2075-FCE1-683B869DA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4F5FABB-B0FA-DCB2-041A-419C82B209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4B87BA9-FAF2-990C-39C3-DA932358E7F1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4B87BA9-FAF2-990C-39C3-DA932358E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1200329"/>
              </a:xfrm>
              <a:prstGeom prst="rect">
                <a:avLst/>
              </a:prstGeom>
              <a:blipFill>
                <a:blip r:embed="rId3"/>
                <a:stretch>
                  <a:fillRect l="-1404" t="-2538" b="-7107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6889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F8EDC-C61C-B4DE-F823-5F8AB0BEF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0E54EA0-3A4A-39F2-4AF6-663D0C2648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D40440C-0188-F5D7-BA2B-6C65310FA518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zeitartige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raumsartige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Vektoren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unterteilen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D40440C-0188-F5D7-BA2B-6C65310FA5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blipFill>
                <a:blip r:embed="rId3"/>
                <a:stretch>
                  <a:fillRect l="-1404" t="-131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99957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C2737-508E-1DFE-098B-3EEDD4765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86035E4-E344-612B-BB59-387DDF10D9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478EB-DE3B-0BA7-447C-A94ADD0B44AF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zeitartige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raumsartige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Vektoren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unterteilen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Falls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&gt;|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so </a:t>
                </a:r>
                <a:r>
                  <a:rPr lang="en-US" dirty="0" err="1">
                    <a:solidFill>
                      <a:schemeClr val="bg1"/>
                    </a:solidFill>
                  </a:rPr>
                  <a:t>ist</a:t>
                </a:r>
                <a:r>
                  <a:rPr lang="en-US" dirty="0">
                    <a:solidFill>
                      <a:schemeClr val="bg1"/>
                    </a:solidFill>
                  </a:rPr>
                  <a:t> es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zeitartiger</a:t>
                </a:r>
                <a:r>
                  <a:rPr lang="en-US" dirty="0">
                    <a:solidFill>
                      <a:schemeClr val="bg1"/>
                    </a:solidFill>
                  </a:rPr>
                  <a:t> Vektor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liegen</a:t>
                </a:r>
                <a:r>
                  <a:rPr lang="en-US" dirty="0">
                    <a:solidFill>
                      <a:schemeClr val="bg1"/>
                    </a:solidFill>
                  </a:rPr>
                  <a:t> in der Zukunft </a:t>
                </a:r>
                <a:r>
                  <a:rPr lang="en-US" dirty="0" err="1">
                    <a:solidFill>
                      <a:schemeClr val="bg1"/>
                    </a:solidFill>
                  </a:rPr>
                  <a:t>oder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Vergangenheit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beeinflusst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werden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478EB-DE3B-0BA7-447C-A94ADD0B4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blipFill>
                <a:blip r:embed="rId3"/>
                <a:stretch>
                  <a:fillRect l="-1404" t="-768" b="-15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1311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AEE6-5D23-2B62-BDD5-AB1A3B1E4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7CBB087-56D6-CFD6-C696-B79B53B935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0EA46D7-D23D-2740-10E1-B7751F23036B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61863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zeitartige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raumsartige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Vektoren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unterteilen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Falls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&gt;|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so </a:t>
                </a:r>
                <a:r>
                  <a:rPr lang="en-US" dirty="0" err="1">
                    <a:solidFill>
                      <a:schemeClr val="bg1"/>
                    </a:solidFill>
                  </a:rPr>
                  <a:t>ist</a:t>
                </a:r>
                <a:r>
                  <a:rPr lang="en-US" dirty="0">
                    <a:solidFill>
                      <a:schemeClr val="bg1"/>
                    </a:solidFill>
                  </a:rPr>
                  <a:t> es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zeitartiger</a:t>
                </a:r>
                <a:r>
                  <a:rPr lang="en-US" dirty="0">
                    <a:solidFill>
                      <a:schemeClr val="bg1"/>
                    </a:solidFill>
                  </a:rPr>
                  <a:t> Vektor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liegen</a:t>
                </a:r>
                <a:r>
                  <a:rPr lang="en-US" dirty="0">
                    <a:solidFill>
                      <a:schemeClr val="bg1"/>
                    </a:solidFill>
                  </a:rPr>
                  <a:t> in der Zukunft </a:t>
                </a:r>
                <a:r>
                  <a:rPr lang="en-US" dirty="0" err="1">
                    <a:solidFill>
                      <a:schemeClr val="bg1"/>
                    </a:solidFill>
                  </a:rPr>
                  <a:t>oder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Vergangenheit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beeinflusst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werden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Falls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&lt;|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so </a:t>
                </a:r>
                <a:r>
                  <a:rPr lang="en-US" dirty="0" err="1">
                    <a:solidFill>
                      <a:schemeClr val="bg1"/>
                    </a:solidFill>
                  </a:rPr>
                  <a:t>ist</a:t>
                </a:r>
                <a:r>
                  <a:rPr lang="en-US" dirty="0">
                    <a:solidFill>
                      <a:schemeClr val="bg1"/>
                    </a:solidFill>
                  </a:rPr>
                  <a:t> es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raumartiger</a:t>
                </a:r>
                <a:r>
                  <a:rPr lang="en-US" dirty="0">
                    <a:solidFill>
                      <a:schemeClr val="bg1"/>
                    </a:solidFill>
                  </a:rPr>
                  <a:t> Vektor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keinen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Einfluss</a:t>
                </a:r>
                <a:r>
                  <a:rPr lang="en-US" dirty="0">
                    <a:solidFill>
                      <a:schemeClr val="bg1"/>
                    </a:solidFill>
                  </a:rPr>
                  <a:t> auf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haben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keinen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Einfluss</a:t>
                </a:r>
                <a:r>
                  <a:rPr lang="en-US" dirty="0">
                    <a:solidFill>
                      <a:schemeClr val="bg1"/>
                    </a:solidFill>
                  </a:rPr>
                  <a:t> auf </a:t>
                </a:r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Ereignisse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0EA46D7-D23D-2740-10E1-B7751F230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6186309"/>
              </a:xfrm>
              <a:prstGeom prst="rect">
                <a:avLst/>
              </a:prstGeom>
              <a:blipFill>
                <a:blip r:embed="rId3"/>
                <a:stretch>
                  <a:fillRect l="-1404" t="-493" r="-17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12076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CBFD6-9694-588C-21B7-ECE742729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1D0E0AD-93D6-7110-C251-7F0C650338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407A521-EB86-E319-40C8-7647DE0747E2}"/>
              </a:ext>
            </a:extLst>
          </p:cNvPr>
          <p:cNvSpPr txBox="1"/>
          <p:nvPr/>
        </p:nvSpPr>
        <p:spPr>
          <a:xfrm>
            <a:off x="8547652" y="153348"/>
            <a:ext cx="347585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Zurück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Beispiel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zweier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51032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9C875-AF88-E720-4212-1118F01BC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F231833-F984-E977-9593-EB45C57E56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788B923-010D-0597-855D-B81411820426}"/>
              </a:ext>
            </a:extLst>
          </p:cNvPr>
          <p:cNvSpPr txBox="1"/>
          <p:nvPr/>
        </p:nvSpPr>
        <p:spPr>
          <a:xfrm>
            <a:off x="8547652" y="153348"/>
            <a:ext cx="347585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Zurück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Beispiel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zweier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Jedes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besitzt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eigene</a:t>
            </a:r>
            <a:r>
              <a:rPr lang="en-US" dirty="0">
                <a:solidFill>
                  <a:schemeClr val="bg1"/>
                </a:solidFill>
              </a:rPr>
              <a:t> Zukunft, die es </a:t>
            </a:r>
            <a:r>
              <a:rPr lang="en-US" dirty="0" err="1">
                <a:solidFill>
                  <a:schemeClr val="bg1"/>
                </a:solidFill>
              </a:rPr>
              <a:t>beeinflussen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kann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805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57F08-1F9E-DF57-DBDE-83242814B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8CC5B10-F2B3-F829-84CA-7B47C44FC0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C8478A7-9ED6-57E8-DB58-5BA6FB334AF8}"/>
              </a:ext>
            </a:extLst>
          </p:cNvPr>
          <p:cNvSpPr txBox="1"/>
          <p:nvPr/>
        </p:nvSpPr>
        <p:spPr>
          <a:xfrm>
            <a:off x="8547652" y="153348"/>
            <a:ext cx="347585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Zurück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Beispiel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zweier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Jedes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besitzt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eigene</a:t>
            </a:r>
            <a:r>
              <a:rPr lang="en-US" dirty="0">
                <a:solidFill>
                  <a:schemeClr val="bg1"/>
                </a:solidFill>
              </a:rPr>
              <a:t> Zukunft, die es </a:t>
            </a:r>
            <a:r>
              <a:rPr lang="en-US" dirty="0" err="1">
                <a:solidFill>
                  <a:schemeClr val="bg1"/>
                </a:solidFill>
              </a:rPr>
              <a:t>beeinflussen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kann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Auf der </a:t>
            </a:r>
            <a:r>
              <a:rPr lang="en-US" dirty="0" err="1">
                <a:solidFill>
                  <a:schemeClr val="bg1"/>
                </a:solidFill>
              </a:rPr>
              <a:t>anderen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Seite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besitzt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jedes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eigene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Vergangenheit</a:t>
            </a:r>
            <a:r>
              <a:rPr lang="en-US" dirty="0">
                <a:solidFill>
                  <a:schemeClr val="bg1"/>
                </a:solidFill>
              </a:rPr>
              <a:t>, in der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Einfluss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genommen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haben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können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78017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3E98E-FF21-C7EB-A27E-F8D7DD0AB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A034FA5-0F11-048F-FEAD-CDD8B9BADC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52AAC2E-BF70-135A-BF31-305445B42E46}"/>
              </a:ext>
            </a:extLst>
          </p:cNvPr>
          <p:cNvSpPr txBox="1"/>
          <p:nvPr/>
        </p:nvSpPr>
        <p:spPr>
          <a:xfrm>
            <a:off x="8547652" y="153348"/>
            <a:ext cx="347585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Zurück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zum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Beispiel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zweier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Jedes</a:t>
            </a:r>
            <a:r>
              <a:rPr lang="en-US" dirty="0">
                <a:solidFill>
                  <a:schemeClr val="bg1"/>
                </a:solidFill>
              </a:rPr>
              <a:t> der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besitzt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eigene</a:t>
            </a:r>
            <a:r>
              <a:rPr lang="en-US" dirty="0">
                <a:solidFill>
                  <a:schemeClr val="bg1"/>
                </a:solidFill>
              </a:rPr>
              <a:t> Zukunft, die es </a:t>
            </a:r>
            <a:r>
              <a:rPr lang="en-US" dirty="0" err="1">
                <a:solidFill>
                  <a:schemeClr val="bg1"/>
                </a:solidFill>
              </a:rPr>
              <a:t>beeinflussen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kann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Auf der </a:t>
            </a:r>
            <a:r>
              <a:rPr lang="en-US" dirty="0" err="1">
                <a:solidFill>
                  <a:schemeClr val="bg1"/>
                </a:solidFill>
              </a:rPr>
              <a:t>anderen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Seite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besitzt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jedes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eigene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Vergangenheit</a:t>
            </a:r>
            <a:r>
              <a:rPr lang="en-US" dirty="0">
                <a:solidFill>
                  <a:schemeClr val="bg1"/>
                </a:solidFill>
              </a:rPr>
              <a:t>, in der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Einfluss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genommen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haben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können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Die Zukunft, die </a:t>
            </a:r>
            <a:r>
              <a:rPr lang="en-US" dirty="0" err="1">
                <a:solidFill>
                  <a:schemeClr val="bg1"/>
                </a:solidFill>
              </a:rPr>
              <a:t>zwei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teilen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nennen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wir</a:t>
            </a:r>
            <a:r>
              <a:rPr lang="en-US" dirty="0">
                <a:solidFill>
                  <a:schemeClr val="bg1"/>
                </a:solidFill>
              </a:rPr>
              <a:t> die </a:t>
            </a:r>
            <a:r>
              <a:rPr lang="en-US" dirty="0" err="1">
                <a:solidFill>
                  <a:schemeClr val="bg1"/>
                </a:solidFill>
              </a:rPr>
              <a:t>gemeinsame</a:t>
            </a:r>
            <a:r>
              <a:rPr lang="en-US" dirty="0">
                <a:solidFill>
                  <a:schemeClr val="bg1"/>
                </a:solidFill>
              </a:rPr>
              <a:t> Zukunft </a:t>
            </a:r>
            <a:r>
              <a:rPr lang="en-US" dirty="0" err="1">
                <a:solidFill>
                  <a:schemeClr val="bg1"/>
                </a:solidFill>
              </a:rPr>
              <a:t>dieser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Die </a:t>
            </a:r>
            <a:r>
              <a:rPr lang="en-US" dirty="0" err="1">
                <a:solidFill>
                  <a:schemeClr val="bg1"/>
                </a:solidFill>
              </a:rPr>
              <a:t>gemeinsame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Vergangenheit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r>
              <a:rPr lang="en-US" dirty="0">
                <a:solidFill>
                  <a:schemeClr val="bg1"/>
                </a:solidFill>
              </a:rPr>
              <a:t> die </a:t>
            </a:r>
            <a:r>
              <a:rPr lang="en-US" dirty="0" err="1">
                <a:solidFill>
                  <a:schemeClr val="bg1"/>
                </a:solidFill>
              </a:rPr>
              <a:t>Vergangenheit</a:t>
            </a:r>
            <a:r>
              <a:rPr lang="en-US" dirty="0">
                <a:solidFill>
                  <a:schemeClr val="bg1"/>
                </a:solidFill>
              </a:rPr>
              <a:t>, die </a:t>
            </a:r>
            <a:r>
              <a:rPr lang="en-US" dirty="0" err="1">
                <a:solidFill>
                  <a:schemeClr val="bg1"/>
                </a:solidFill>
              </a:rPr>
              <a:t>beide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Ereignisse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teilen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625030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F4C41-DB38-E33A-FD99-22A0D574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A5ECB67-6B0C-F152-E829-33CCBDAE09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423DCBD-CB22-BD0A-D8FB-8610F95154E4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betrachten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jetzt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Bezugssystem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 err="1">
                    <a:solidFill>
                      <a:schemeClr val="bg1"/>
                    </a:solidFill>
                  </a:rPr>
                  <a:t>dass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sich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fortbewegt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423DCBD-CB22-BD0A-D8FB-8610F9515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923330"/>
              </a:xfrm>
              <a:prstGeom prst="rect">
                <a:avLst/>
              </a:prstGeom>
              <a:blipFill>
                <a:blip r:embed="rId3"/>
                <a:stretch>
                  <a:fillRect l="-1404" t="-3289" b="-921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11932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BDC2E-B3C9-AD1E-9EFF-3E0A486AF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86E6E7D-9B48-0310-F76D-6D5CEFC372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48810BD-090D-8411-E313-3646F6186F38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betrachten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jetzt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Bezugssystem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 err="1">
                    <a:solidFill>
                      <a:schemeClr val="bg1"/>
                    </a:solidFill>
                  </a:rPr>
                  <a:t>dass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sich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fortbewegt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Zum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48810BD-090D-8411-E313-3646F6186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1754326"/>
              </a:xfrm>
              <a:prstGeom prst="rect">
                <a:avLst/>
              </a:prstGeom>
              <a:blipFill>
                <a:blip r:embed="rId3"/>
                <a:stretch>
                  <a:fillRect l="-1404" t="-1736" b="-451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50951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4FF12-65D7-79E0-7B97-16950D60D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0E5CEEE-1939-38A0-6749-BAF6A58426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5FB40C-85C1-2B88-6C30-CE7324896ECE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betrachten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jetzt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Bezugssystem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 err="1">
                    <a:solidFill>
                      <a:schemeClr val="bg1"/>
                    </a:solidFill>
                  </a:rPr>
                  <a:t>dass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sich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fortbewegt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Zum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Zum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5FB40C-85C1-2B88-6C30-CE7324896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585323"/>
              </a:xfrm>
              <a:prstGeom prst="rect">
                <a:avLst/>
              </a:prstGeom>
              <a:blipFill>
                <a:blip r:embed="rId3"/>
                <a:stretch>
                  <a:fillRect l="-1404" t="-1179" b="-283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2280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4040F-70DA-08E4-7022-8695F90C7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78B8C7D-4FB5-394E-3706-70D3C79DB7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F57B016-D01C-B794-F727-AE4C41F13376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6933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betrachten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jetzt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Bezugssystem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 err="1">
                    <a:solidFill>
                      <a:schemeClr val="bg1"/>
                    </a:solidFill>
                  </a:rPr>
                  <a:t>dass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sich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fortbewegt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Zum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Zum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Zum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=1.2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F57B016-D01C-B794-F727-AE4C41F13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693319"/>
              </a:xfrm>
              <a:prstGeom prst="rect">
                <a:avLst/>
              </a:prstGeom>
              <a:blipFill>
                <a:blip r:embed="rId3"/>
                <a:stretch>
                  <a:fillRect l="-1404" t="-82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77439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766E3-E8FA-A942-2735-7F7507D39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E1D6DF8-4535-C81D-985C-2D2F3ED34A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62D735B-A4BE-22E0-F309-2A156115FF34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betrachten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jetzt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Bezugssystem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 err="1">
                    <a:solidFill>
                      <a:schemeClr val="bg1"/>
                    </a:solidFill>
                  </a:rPr>
                  <a:t>dass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sich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fortbewegt: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Ursprung;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;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=1.2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=1.8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62D735B-A4BE-22E0-F309-2A156115FF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4247317"/>
              </a:xfrm>
              <a:prstGeom prst="rect">
                <a:avLst/>
              </a:prstGeom>
              <a:blipFill>
                <a:blip r:embed="rId3"/>
                <a:stretch>
                  <a:fillRect l="-1404" t="-717" b="-129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59997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CF645-E0AF-5C3A-9737-FCADD88C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4BC72C8-8E32-6528-F219-8317B83D04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40365A2-DEF5-BF6A-A16D-BB157E5A1836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67533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betrachten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jetzt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Bezugssystem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 err="1">
                    <a:solidFill>
                      <a:schemeClr val="bg1"/>
                    </a:solidFill>
                  </a:rPr>
                  <a:t>dass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sich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fortbewegt: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Ursprung;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;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=1.2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befinden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=1.8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Allgemein</a:t>
                </a:r>
                <a:r>
                  <a:rPr lang="en-US" dirty="0">
                    <a:solidFill>
                      <a:schemeClr val="bg1"/>
                    </a:solidFill>
                  </a:rPr>
                  <a:t>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damit</a:t>
                </a:r>
                <a:r>
                  <a:rPr lang="en-US" dirty="0">
                    <a:solidFill>
                      <a:schemeClr val="bg1"/>
                    </a:solidFill>
                  </a:rPr>
                  <a:t> die </a:t>
                </a:r>
                <a:r>
                  <a:rPr lang="en-US" dirty="0" err="1">
                    <a:solidFill>
                      <a:schemeClr val="bg1"/>
                    </a:solidFill>
                  </a:rPr>
                  <a:t>Funktion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Alle Orte auf </a:t>
                </a:r>
                <a:r>
                  <a:rPr lang="en-US" dirty="0" err="1">
                    <a:solidFill>
                      <a:schemeClr val="bg1"/>
                    </a:solidFill>
                  </a:rPr>
                  <a:t>dieser</a:t>
                </a:r>
                <a:r>
                  <a:rPr lang="en-US" dirty="0">
                    <a:solidFill>
                      <a:schemeClr val="bg1"/>
                    </a:solidFill>
                  </a:rPr>
                  <a:t> Linie </a:t>
                </a:r>
                <a:r>
                  <a:rPr lang="en-US" dirty="0" err="1">
                    <a:solidFill>
                      <a:schemeClr val="bg1"/>
                    </a:solidFill>
                  </a:rPr>
                  <a:t>sind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bewegten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Bezugssystem</a:t>
                </a:r>
                <a:r>
                  <a:rPr lang="en-US" dirty="0">
                    <a:solidFill>
                      <a:schemeClr val="bg1"/>
                    </a:solidFill>
                  </a:rPr>
                  <a:t> am Gleichen Ort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40365A2-DEF5-BF6A-A16D-BB157E5A1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6753387"/>
              </a:xfrm>
              <a:prstGeom prst="rect">
                <a:avLst/>
              </a:prstGeom>
              <a:blipFill>
                <a:blip r:embed="rId3"/>
                <a:stretch>
                  <a:fillRect l="-1404" t="-451" b="-45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9097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7F5-6DCF-203F-E469-744F24752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44C2D90-30D7-F50A-3468-7D495C4DBE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6A5681F-7D47-70F4-7EB2-B7D1B405D680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4260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Allgemein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damit</a:t>
                </a:r>
                <a:r>
                  <a:rPr lang="en-US" dirty="0">
                    <a:solidFill>
                      <a:schemeClr val="bg1"/>
                    </a:solidFill>
                  </a:rPr>
                  <a:t> die </a:t>
                </a:r>
                <a:r>
                  <a:rPr lang="en-US" dirty="0" err="1">
                    <a:solidFill>
                      <a:schemeClr val="bg1"/>
                    </a:solidFill>
                  </a:rPr>
                  <a:t>Funktion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dies </a:t>
                </a:r>
                <a:r>
                  <a:rPr lang="en-US" dirty="0" err="1">
                    <a:solidFill>
                      <a:schemeClr val="bg1"/>
                    </a:solidFill>
                  </a:rPr>
                  <a:t>auch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aus</a:t>
                </a:r>
                <a:r>
                  <a:rPr lang="en-US" dirty="0">
                    <a:solidFill>
                      <a:schemeClr val="bg1"/>
                    </a:solidFill>
                  </a:rPr>
                  <a:t> der Formel für z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herleiten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0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Dies </a:t>
                </a:r>
                <a:r>
                  <a:rPr lang="en-US" dirty="0" err="1">
                    <a:solidFill>
                      <a:schemeClr val="bg1"/>
                    </a:solidFill>
                  </a:rPr>
                  <a:t>nennen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Weltlinie</a:t>
                </a:r>
                <a:r>
                  <a:rPr lang="en-US" dirty="0">
                    <a:solidFill>
                      <a:schemeClr val="bg1"/>
                    </a:solidFill>
                  </a:rPr>
                  <a:t>. </a:t>
                </a:r>
                <a:r>
                  <a:rPr lang="en-US" dirty="0" err="1">
                    <a:solidFill>
                      <a:schemeClr val="bg1"/>
                    </a:solidFill>
                  </a:rPr>
                  <a:t>Gleichzeitig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handelt</a:t>
                </a:r>
                <a:r>
                  <a:rPr lang="en-US" dirty="0">
                    <a:solidFill>
                      <a:schemeClr val="bg1"/>
                    </a:solidFill>
                  </a:rPr>
                  <a:t> es </a:t>
                </a:r>
                <a:r>
                  <a:rPr lang="en-US" dirty="0" err="1">
                    <a:solidFill>
                      <a:schemeClr val="bg1"/>
                    </a:solidFill>
                  </a:rPr>
                  <a:t>sich</a:t>
                </a:r>
                <a:r>
                  <a:rPr lang="en-US" dirty="0">
                    <a:solidFill>
                      <a:schemeClr val="bg1"/>
                    </a:solidFill>
                  </a:rPr>
                  <a:t> um die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Zeitachse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bewegten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Koordinatensystem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6A5681F-7D47-70F4-7EB2-B7D1B405D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4260397"/>
              </a:xfrm>
              <a:prstGeom prst="rect">
                <a:avLst/>
              </a:prstGeom>
              <a:blipFill>
                <a:blip r:embed="rId3"/>
                <a:stretch>
                  <a:fillRect l="-1404" t="-71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549686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1_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TM03457464[[fn=Dividende]]</Template>
  <TotalTime>0</TotalTime>
  <Words>1030</Words>
  <Application>Microsoft Office PowerPoint</Application>
  <PresentationFormat>Widescreen</PresentationFormat>
  <Paragraphs>190</Paragraphs>
  <Slides>26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Aharoni</vt:lpstr>
      <vt:lpstr>Arial</vt:lpstr>
      <vt:lpstr>Calibri</vt:lpstr>
      <vt:lpstr>Cambria Math</vt:lpstr>
      <vt:lpstr>Gill Sans MT</vt:lpstr>
      <vt:lpstr>Wingdings 2</vt:lpstr>
      <vt:lpstr>Dividende</vt:lpstr>
      <vt:lpstr>1_Dividende</vt:lpstr>
      <vt:lpstr>Minkowski Diagramme Beispiele und Anwendungen im kontext der Speziellen Relativitätstheorie</vt:lpstr>
      <vt:lpstr>Grundlegende Annahmen und Zusammenhänge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CROC v2 Testing ETH Zurich</dc:title>
  <dc:creator>Paul Sander</dc:creator>
  <cp:keywords>CROC, CROCv2, Datamerging, Aurora, ETH</cp:keywords>
  <cp:lastModifiedBy>Paul Sander</cp:lastModifiedBy>
  <cp:revision>86</cp:revision>
  <dcterms:created xsi:type="dcterms:W3CDTF">2022-02-08T00:12:22Z</dcterms:created>
  <dcterms:modified xsi:type="dcterms:W3CDTF">2025-03-27T10:04:23Z</dcterms:modified>
</cp:coreProperties>
</file>